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561" r:id="rId3"/>
    <p:sldId id="260" r:id="rId4"/>
    <p:sldId id="568" r:id="rId5"/>
    <p:sldId id="567" r:id="rId6"/>
    <p:sldId id="565" r:id="rId7"/>
    <p:sldId id="569" r:id="rId8"/>
    <p:sldId id="570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4660"/>
  </p:normalViewPr>
  <p:slideViewPr>
    <p:cSldViewPr snapToGrid="0">
      <p:cViewPr varScale="1">
        <p:scale>
          <a:sx n="78" d="100"/>
          <a:sy n="78" d="100"/>
        </p:scale>
        <p:origin x="64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3FEA32-2B8B-4244-A536-214CF6D4B9AB}" type="datetimeFigureOut">
              <a:rPr lang="en-GB" smtClean="0"/>
              <a:t>07/01/2026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D2CD01-2772-4AF8-9466-73774B5F012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43048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7293181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349709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37228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8464B0B-3CDA-8AFD-A136-AA80755CE963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F5D21-5C4F-8D9E-7FA8-76F7F63429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99D9B3-8F15-A5BD-3712-7E9B6FB9BB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F73F52-B7DA-A46F-7D47-F3165BA00E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DE237-D0A8-8204-0CBC-116E52403B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A27FEF-679B-858D-946F-54A02B4B3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005111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F8531-151F-744E-6E6B-6289ADDEAD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70542F-505E-8990-FA6A-1C0926767C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BA6E7E-6DE9-2DCD-CEB7-C34692D5F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6BB5AF-1A83-E4B7-F215-3322543FDD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3F16BA-8086-5B54-3073-62329D1BE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93769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BA0FE-A8AD-7D8B-D9AF-32BE2DF4B0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1975F9-423B-F4B0-21FD-AD9E591907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639C2A-A532-6A07-D74B-DFA878339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8FF95C-1489-D66D-17EE-7E7F4BDE4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6C3CEA-0A0C-F0E0-2382-FE3CFFA3A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83553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AFA62B-3196-810C-25DA-867E58E404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579251-ADB9-564F-A0E8-4544B5DD25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338357-F991-916E-F55E-D33B3B5589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B712E3-C5C9-A553-608F-F6617A9BB3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02906B-4867-30DD-0DCE-BC37F1AC1E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506FF6-B6C3-3F5B-617C-092C9CEB5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86015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A8C197-A54D-0BC2-1361-071D144C8F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7F5B1B-2A95-BC89-83B7-73DDD9787A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E93C43-1D8D-B03E-ADF5-E8FE0B2952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8C70AF-659D-A939-1A82-B4EBD7B840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439A98-65A3-3CF5-AD07-9AAC8288E4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B3538-91A6-D119-5D4B-7FBF59B24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2852D7-8ADE-231B-1748-76E481455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206E61-8A9B-EA2A-EAAD-0B862C768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8237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C9240-87DD-5F4C-0863-5DA6FB538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49AC3C-F8C1-59A1-4915-364581564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929AB9-B5FC-420A-E844-DE2DCB4C1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127500-6C83-17A4-C2D6-31B648FE9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6694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6C8079-13FD-8590-4D92-1477F029B2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FC357A-F34C-E06D-7085-97B89AD66B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067FF8-8244-9FD5-7677-5BF0C29288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5438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0662F-416B-A35F-03C2-53DFA6DCD5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C53E01-08C9-C606-714F-14B984E647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B283E3-BEF2-0983-B542-9CC494C8B2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C192B0-8202-50EF-4F30-CD86E593F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581173-902E-BB87-52CA-02814A42D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13DABF-C3FB-6892-42E2-3042028ED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079688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937CE-6997-2F94-6AB8-28894A4682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4E253F0-61CB-494C-9AE2-75D4D6A8E2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CBB420-64D6-A41D-342E-50D18D8B74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1583DC-D3BC-F8A0-CAF3-53E862AAF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407A1B-67EC-2703-4322-26748FC73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04383E-78FC-B5FE-595F-0448B665D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170720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7044FA-6991-3534-22D7-EFD58AC24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A5CF4C-1405-BFA5-0A04-5D82CB2AD1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335254-5C3A-03C6-2789-A03722906B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4F644E-9AE7-6B98-3779-AD44811EB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2D016E-072A-A391-875E-41D05145A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48823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A5F21B1-1D8F-7580-A9B7-CF11AB94CE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A3E446-2D02-E169-F4CE-59F4A64FF4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CAA05B-0406-D755-E324-32CBD48986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A4BF43-763C-F446-1231-1FB6CB83D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E38E66-0A51-C30E-742E-1C95BDC83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33667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D67EBAD-5A44-D508-FACE-3A970FC0DB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8969B6-7349-041D-7E62-61E1376259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59CF7F-72A8-368D-2FDD-B58429DC1C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December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9BB911-5ECA-16CF-A969-6C2522606A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54F58A-1703-F328-A5DA-1551CB2F4B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F5A6A5-3841-4FBA-B455-67883EB317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59710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A3085-A2D2-7D5C-B934-F2C3DCCEEE8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Communication Kit (Kit 3)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434C40-3026-31E4-C761-275DD9A0E7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0416" y="3688774"/>
            <a:ext cx="10351168" cy="1655762"/>
          </a:xfrm>
        </p:spPr>
        <p:txBody>
          <a:bodyPr>
            <a:normAutofit fontScale="92500" lnSpcReduction="10000"/>
          </a:bodyPr>
          <a:lstStyle/>
          <a:p>
            <a:r>
              <a:rPr lang="en-GB" sz="3600" b="1" dirty="0">
                <a:solidFill>
                  <a:srgbClr val="00B0F0"/>
                </a:solidFill>
              </a:rPr>
              <a:t>Communication Foundation Lessons (CFL)</a:t>
            </a:r>
          </a:p>
          <a:p>
            <a:r>
              <a:rPr lang="en-GB" sz="3600" b="1" dirty="0">
                <a:solidFill>
                  <a:srgbClr val="00B0F0"/>
                </a:solidFill>
              </a:rPr>
              <a:t>(Lesson Ref: CFL02)</a:t>
            </a:r>
          </a:p>
          <a:p>
            <a:r>
              <a:rPr lang="en-US" sz="3600" b="1" dirty="0">
                <a:solidFill>
                  <a:srgbClr val="7030A0"/>
                </a:solidFill>
              </a:rPr>
              <a:t>CFL15: ESP32 As Access Point</a:t>
            </a:r>
            <a:endParaRPr lang="en-GB" sz="3600" b="1" dirty="0">
              <a:solidFill>
                <a:srgbClr val="7030A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C8E9294-41F4-4FD5-344C-22E11DE3E5A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4852" y="1"/>
            <a:ext cx="3125372" cy="842386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0F8A61-A0DD-1E95-4A27-EF5FD8DC64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DD94DA-C92E-EFF6-9BB4-6FD6B1B5B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33716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B05A1-8163-931A-0AC5-4711F7A42D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882" y="95922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Communication Kit : Contents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34387A-57AF-85E7-D37E-6EEEF9D35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AE077C-C2C2-1A6F-4A31-E6F0AB633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A2A5D-5A42-4533-ACF4-15D55555B360}" type="slidenum">
              <a:rPr lang="en-GB" smtClean="0"/>
              <a:t>2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3CF65C-3B0D-4730-0E30-DB8DC39960B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4852" y="1"/>
            <a:ext cx="3125372" cy="842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FAC25C5-432E-8472-0A6B-B894088922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48479" y="1380661"/>
            <a:ext cx="5847522" cy="436098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54EC2A0-8833-DC11-D0B9-6B849F16D6E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066508" y="1477756"/>
            <a:ext cx="4197264" cy="4263887"/>
          </a:xfrm>
          <a:prstGeom prst="rect">
            <a:avLst/>
          </a:prstGeom>
        </p:spPr>
      </p:pic>
      <p:sp>
        <p:nvSpPr>
          <p:cNvPr id="8" name="TextBox 45">
            <a:extLst>
              <a:ext uri="{FF2B5EF4-FFF2-40B4-BE49-F238E27FC236}">
                <a16:creationId xmlns:a16="http://schemas.microsoft.com/office/drawing/2014/main" id="{8DC5E389-0D5A-F470-2189-C2FF3449BF66}"/>
              </a:ext>
            </a:extLst>
          </p:cNvPr>
          <p:cNvSpPr txBox="1"/>
          <p:nvPr/>
        </p:nvSpPr>
        <p:spPr bwMode="auto">
          <a:xfrm>
            <a:off x="1530469" y="5933742"/>
            <a:ext cx="3260408" cy="3661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b="1" dirty="0"/>
              <a:t>Communication</a:t>
            </a:r>
            <a:r>
              <a:rPr lang="en-GB" b="1" dirty="0"/>
              <a:t> Kit Components</a:t>
            </a:r>
            <a:endParaRPr dirty="0"/>
          </a:p>
        </p:txBody>
      </p:sp>
      <p:sp>
        <p:nvSpPr>
          <p:cNvPr id="9" name="TextBox 20">
            <a:extLst>
              <a:ext uri="{FF2B5EF4-FFF2-40B4-BE49-F238E27FC236}">
                <a16:creationId xmlns:a16="http://schemas.microsoft.com/office/drawing/2014/main" id="{2EF83828-E71C-4BA2-4142-04C145376EDA}"/>
              </a:ext>
            </a:extLst>
          </p:cNvPr>
          <p:cNvSpPr txBox="1"/>
          <p:nvPr/>
        </p:nvSpPr>
        <p:spPr bwMode="auto">
          <a:xfrm>
            <a:off x="7589967" y="5933741"/>
            <a:ext cx="3150347" cy="3661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1800" b="1" i="0" u="none" strike="noStrike" cap="none" spc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Communication</a:t>
            </a:r>
            <a:r>
              <a:rPr lang="en-GB" b="1" dirty="0"/>
              <a:t> Creative Board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56696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7047694" name="Title 1"/>
          <p:cNvSpPr>
            <a:spLocks noGrp="1"/>
          </p:cNvSpPr>
          <p:nvPr>
            <p:ph type="title"/>
          </p:nvPr>
        </p:nvSpPr>
        <p:spPr bwMode="auto"/>
        <p:txBody>
          <a:bodyPr vert="horz" lIns="91440" tIns="45720" rIns="91440" bIns="45720" rtlCol="0" anchor="ctr">
            <a:normAutofit/>
          </a:bodyPr>
          <a:lstStyle/>
          <a:p>
            <a:pPr rtl="0">
              <a:spcBef>
                <a:spcPct val="0"/>
              </a:spcBef>
            </a:pPr>
            <a:r>
              <a:rPr lang="en-GB" b="1" kern="1200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Kit </a:t>
            </a:r>
            <a:r>
              <a:rPr lang="en-US" b="1" kern="1200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3</a:t>
            </a:r>
            <a:r>
              <a:rPr lang="en-GB" b="1" kern="1200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b="1" kern="1200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Communication </a:t>
            </a:r>
            <a:r>
              <a:rPr lang="en-GB" b="1" kern="1200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Creative Board - Features</a:t>
            </a:r>
            <a:endParaRPr b="1" kern="1200" dirty="0">
              <a:solidFill>
                <a:srgbClr val="FF3300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DF7B30-4988-34F3-4821-794FB38B04C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348464" y="1770208"/>
            <a:ext cx="4862629" cy="4939814"/>
          </a:xfrm>
          <a:prstGeom prst="rect">
            <a:avLst/>
          </a:prstGeo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0E2975DB-E2B1-3D15-2A22-93E1C92B221A}"/>
              </a:ext>
            </a:extLst>
          </p:cNvPr>
          <p:cNvCxnSpPr/>
          <p:nvPr/>
        </p:nvCxnSpPr>
        <p:spPr>
          <a:xfrm flipH="1" flipV="1">
            <a:off x="1926772" y="2563586"/>
            <a:ext cx="2460171" cy="315686"/>
          </a:xfrm>
          <a:prstGeom prst="straightConnector1">
            <a:avLst/>
          </a:prstGeom>
          <a:ln w="28575">
            <a:solidFill>
              <a:srgbClr val="EE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B9ACF50-60B2-A66B-FC8F-F5E0E708EEC5}"/>
              </a:ext>
            </a:extLst>
          </p:cNvPr>
          <p:cNvCxnSpPr>
            <a:cxnSpLocks/>
          </p:cNvCxnSpPr>
          <p:nvPr/>
        </p:nvCxnSpPr>
        <p:spPr bwMode="auto">
          <a:xfrm flipV="1">
            <a:off x="6889587" y="1715780"/>
            <a:ext cx="2743198" cy="783772"/>
          </a:xfrm>
          <a:prstGeom prst="straightConnector1">
            <a:avLst/>
          </a:prstGeom>
          <a:ln w="28575">
            <a:solidFill>
              <a:srgbClr val="EE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5216B88E-0D01-A116-9F44-7020C7D75BA1}"/>
              </a:ext>
            </a:extLst>
          </p:cNvPr>
          <p:cNvSpPr txBox="1"/>
          <p:nvPr/>
        </p:nvSpPr>
        <p:spPr>
          <a:xfrm>
            <a:off x="9632785" y="1545782"/>
            <a:ext cx="1765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LoRa Module I/F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DD9C85B-50AB-D7BD-3A53-E563397E2A5B}"/>
              </a:ext>
            </a:extLst>
          </p:cNvPr>
          <p:cNvSpPr txBox="1"/>
          <p:nvPr/>
        </p:nvSpPr>
        <p:spPr bwMode="auto">
          <a:xfrm>
            <a:off x="1138883" y="2314886"/>
            <a:ext cx="7633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ESP32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90B6FB5-6A3E-F498-3D69-7A1FBABE0E26}"/>
              </a:ext>
            </a:extLst>
          </p:cNvPr>
          <p:cNvCxnSpPr>
            <a:cxnSpLocks/>
          </p:cNvCxnSpPr>
          <p:nvPr/>
        </p:nvCxnSpPr>
        <p:spPr bwMode="auto">
          <a:xfrm flipV="1">
            <a:off x="7052872" y="2867182"/>
            <a:ext cx="2743198" cy="783772"/>
          </a:xfrm>
          <a:prstGeom prst="straightConnector1">
            <a:avLst/>
          </a:prstGeom>
          <a:ln w="28575">
            <a:solidFill>
              <a:srgbClr val="EE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A216E2B2-A493-5878-80CF-CE572B548F57}"/>
              </a:ext>
            </a:extLst>
          </p:cNvPr>
          <p:cNvSpPr txBox="1"/>
          <p:nvPr/>
        </p:nvSpPr>
        <p:spPr bwMode="auto">
          <a:xfrm>
            <a:off x="9796070" y="2602966"/>
            <a:ext cx="1015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OLED I/F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62CEF49-9565-4353-6CE3-BA57A4A8A906}"/>
              </a:ext>
            </a:extLst>
          </p:cNvPr>
          <p:cNvCxnSpPr>
            <a:cxnSpLocks/>
          </p:cNvCxnSpPr>
          <p:nvPr/>
        </p:nvCxnSpPr>
        <p:spPr bwMode="auto">
          <a:xfrm flipV="1">
            <a:off x="7805059" y="2282744"/>
            <a:ext cx="1827726" cy="504888"/>
          </a:xfrm>
          <a:prstGeom prst="straightConnector1">
            <a:avLst/>
          </a:prstGeom>
          <a:ln w="28575">
            <a:solidFill>
              <a:srgbClr val="EE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B1919051-7F1C-8A10-D296-E6155E7B5D94}"/>
              </a:ext>
            </a:extLst>
          </p:cNvPr>
          <p:cNvSpPr txBox="1"/>
          <p:nvPr/>
        </p:nvSpPr>
        <p:spPr bwMode="auto">
          <a:xfrm>
            <a:off x="9796070" y="2080662"/>
            <a:ext cx="22541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NRF24L01 Module I/F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0580061-4FAC-8D17-0DE4-3134E6A611BC}"/>
              </a:ext>
            </a:extLst>
          </p:cNvPr>
          <p:cNvCxnSpPr>
            <a:cxnSpLocks/>
          </p:cNvCxnSpPr>
          <p:nvPr/>
        </p:nvCxnSpPr>
        <p:spPr bwMode="auto">
          <a:xfrm flipV="1">
            <a:off x="7747824" y="3204820"/>
            <a:ext cx="2048246" cy="605678"/>
          </a:xfrm>
          <a:prstGeom prst="straightConnector1">
            <a:avLst/>
          </a:prstGeom>
          <a:ln w="28575">
            <a:solidFill>
              <a:srgbClr val="EE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594428AD-8C9E-E2A3-3189-B1017094D23C}"/>
              </a:ext>
            </a:extLst>
          </p:cNvPr>
          <p:cNvSpPr txBox="1"/>
          <p:nvPr/>
        </p:nvSpPr>
        <p:spPr bwMode="auto">
          <a:xfrm>
            <a:off x="9836806" y="3020154"/>
            <a:ext cx="9460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RFID I/F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CFD017-CCC8-D2EB-DDC1-894905A78198}"/>
              </a:ext>
            </a:extLst>
          </p:cNvPr>
          <p:cNvSpPr txBox="1"/>
          <p:nvPr/>
        </p:nvSpPr>
        <p:spPr bwMode="auto">
          <a:xfrm>
            <a:off x="9796070" y="3828362"/>
            <a:ext cx="20489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SD Card Module I/F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0C8FE61-FD6C-0251-47A8-5B268CC5CFB3}"/>
              </a:ext>
            </a:extLst>
          </p:cNvPr>
          <p:cNvCxnSpPr>
            <a:cxnSpLocks/>
          </p:cNvCxnSpPr>
          <p:nvPr/>
        </p:nvCxnSpPr>
        <p:spPr bwMode="auto">
          <a:xfrm flipV="1">
            <a:off x="7788560" y="4013028"/>
            <a:ext cx="2048246" cy="605678"/>
          </a:xfrm>
          <a:prstGeom prst="straightConnector1">
            <a:avLst/>
          </a:prstGeom>
          <a:ln w="28575">
            <a:solidFill>
              <a:srgbClr val="EE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2509D3B-F2A5-6016-8A59-13465887E570}"/>
              </a:ext>
            </a:extLst>
          </p:cNvPr>
          <p:cNvCxnSpPr>
            <a:cxnSpLocks/>
          </p:cNvCxnSpPr>
          <p:nvPr/>
        </p:nvCxnSpPr>
        <p:spPr bwMode="auto">
          <a:xfrm flipV="1">
            <a:off x="7505531" y="4877649"/>
            <a:ext cx="2048246" cy="605678"/>
          </a:xfrm>
          <a:prstGeom prst="straightConnector1">
            <a:avLst/>
          </a:prstGeom>
          <a:ln w="28575">
            <a:solidFill>
              <a:srgbClr val="EE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13AE2AE8-70F6-913F-6DCD-D962B47AFA30}"/>
              </a:ext>
            </a:extLst>
          </p:cNvPr>
          <p:cNvSpPr txBox="1"/>
          <p:nvPr/>
        </p:nvSpPr>
        <p:spPr bwMode="auto">
          <a:xfrm>
            <a:off x="9569305" y="4672756"/>
            <a:ext cx="16514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Rotary Encoder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A343405-0070-F525-C73F-F07ECAD76F7D}"/>
              </a:ext>
            </a:extLst>
          </p:cNvPr>
          <p:cNvSpPr txBox="1"/>
          <p:nvPr/>
        </p:nvSpPr>
        <p:spPr>
          <a:xfrm>
            <a:off x="4463143" y="4315867"/>
            <a:ext cx="707571" cy="726221"/>
          </a:xfrm>
          <a:prstGeom prst="rect">
            <a:avLst/>
          </a:prstGeom>
          <a:noFill/>
          <a:ln w="28575">
            <a:solidFill>
              <a:srgbClr val="EE0000"/>
            </a:solidFill>
          </a:ln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A15369F-B29C-6924-07C9-C31A2585E0C5}"/>
              </a:ext>
            </a:extLst>
          </p:cNvPr>
          <p:cNvCxnSpPr/>
          <p:nvPr/>
        </p:nvCxnSpPr>
        <p:spPr bwMode="auto">
          <a:xfrm flipH="1" flipV="1">
            <a:off x="2191304" y="4115176"/>
            <a:ext cx="2460171" cy="315686"/>
          </a:xfrm>
          <a:prstGeom prst="straightConnector1">
            <a:avLst/>
          </a:prstGeom>
          <a:ln w="28575">
            <a:solidFill>
              <a:srgbClr val="EE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80043822-8E50-C62F-D0E4-CD19BCC50FC3}"/>
              </a:ext>
            </a:extLst>
          </p:cNvPr>
          <p:cNvSpPr txBox="1"/>
          <p:nvPr/>
        </p:nvSpPr>
        <p:spPr bwMode="auto">
          <a:xfrm>
            <a:off x="887406" y="3596956"/>
            <a:ext cx="13147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b="1" dirty="0"/>
              <a:t>Mini</a:t>
            </a:r>
          </a:p>
          <a:p>
            <a:pPr algn="ctr"/>
            <a:r>
              <a:rPr lang="en-GB" b="1" dirty="0"/>
              <a:t>Breadboard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BE97AFC-F411-8FFF-717B-A4A33D748FB9}"/>
              </a:ext>
            </a:extLst>
          </p:cNvPr>
          <p:cNvSpPr txBox="1"/>
          <p:nvPr/>
        </p:nvSpPr>
        <p:spPr bwMode="auto">
          <a:xfrm>
            <a:off x="3642020" y="4527306"/>
            <a:ext cx="678146" cy="396584"/>
          </a:xfrm>
          <a:prstGeom prst="rect">
            <a:avLst/>
          </a:prstGeom>
          <a:noFill/>
          <a:ln w="28575">
            <a:solidFill>
              <a:srgbClr val="EE0000"/>
            </a:solidFill>
          </a:ln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DD531BEF-BB1B-33A5-AC2E-71E18688C7F8}"/>
              </a:ext>
            </a:extLst>
          </p:cNvPr>
          <p:cNvCxnSpPr/>
          <p:nvPr/>
        </p:nvCxnSpPr>
        <p:spPr bwMode="auto">
          <a:xfrm flipH="1" flipV="1">
            <a:off x="1520922" y="4527306"/>
            <a:ext cx="2460171" cy="315686"/>
          </a:xfrm>
          <a:prstGeom prst="straightConnector1">
            <a:avLst/>
          </a:prstGeom>
          <a:ln w="28575">
            <a:solidFill>
              <a:srgbClr val="EE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46A88AC0-52C9-901F-BD11-0D31687167C9}"/>
              </a:ext>
            </a:extLst>
          </p:cNvPr>
          <p:cNvSpPr txBox="1"/>
          <p:nvPr/>
        </p:nvSpPr>
        <p:spPr bwMode="auto">
          <a:xfrm>
            <a:off x="607977" y="4240115"/>
            <a:ext cx="117371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b="1" dirty="0"/>
              <a:t>Power</a:t>
            </a:r>
          </a:p>
          <a:p>
            <a:pPr algn="ctr"/>
            <a:r>
              <a:rPr lang="en-GB" b="1" dirty="0"/>
              <a:t>Connector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B7764177-32CC-5E45-BB56-1E60B7CADDDA}"/>
              </a:ext>
            </a:extLst>
          </p:cNvPr>
          <p:cNvCxnSpPr/>
          <p:nvPr/>
        </p:nvCxnSpPr>
        <p:spPr bwMode="auto">
          <a:xfrm flipH="1" flipV="1">
            <a:off x="2065649" y="5066397"/>
            <a:ext cx="2460171" cy="315686"/>
          </a:xfrm>
          <a:prstGeom prst="straightConnector1">
            <a:avLst/>
          </a:prstGeom>
          <a:ln w="28575">
            <a:solidFill>
              <a:srgbClr val="EE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AEBCEB09-33EF-81ED-FC57-64EE766E183B}"/>
              </a:ext>
            </a:extLst>
          </p:cNvPr>
          <p:cNvSpPr txBox="1"/>
          <p:nvPr/>
        </p:nvSpPr>
        <p:spPr bwMode="auto">
          <a:xfrm>
            <a:off x="480118" y="4888928"/>
            <a:ext cx="16482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b="1" dirty="0"/>
              <a:t>ON/OFF Switch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C20CA7F4-8A96-8BC0-CA3D-38EA0ED7C3A9}"/>
              </a:ext>
            </a:extLst>
          </p:cNvPr>
          <p:cNvCxnSpPr/>
          <p:nvPr/>
        </p:nvCxnSpPr>
        <p:spPr bwMode="auto">
          <a:xfrm flipH="1" flipV="1">
            <a:off x="1407533" y="5559425"/>
            <a:ext cx="2460171" cy="315686"/>
          </a:xfrm>
          <a:prstGeom prst="straightConnector1">
            <a:avLst/>
          </a:prstGeom>
          <a:ln w="28575">
            <a:solidFill>
              <a:srgbClr val="EE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346B7603-764A-5599-E91C-CE67A7A71198}"/>
              </a:ext>
            </a:extLst>
          </p:cNvPr>
          <p:cNvSpPr txBox="1"/>
          <p:nvPr/>
        </p:nvSpPr>
        <p:spPr bwMode="auto">
          <a:xfrm>
            <a:off x="281772" y="5583199"/>
            <a:ext cx="16204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/>
              <a:t>Input DC Jack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47A5062-C9B4-A6C2-D863-D6214E5B9C6B}"/>
              </a:ext>
            </a:extLst>
          </p:cNvPr>
          <p:cNvSpPr txBox="1"/>
          <p:nvPr/>
        </p:nvSpPr>
        <p:spPr bwMode="auto">
          <a:xfrm>
            <a:off x="5745958" y="5121677"/>
            <a:ext cx="1411945" cy="1200329"/>
          </a:xfrm>
          <a:prstGeom prst="rect">
            <a:avLst/>
          </a:prstGeom>
          <a:noFill/>
          <a:ln w="28575">
            <a:solidFill>
              <a:srgbClr val="EE0000"/>
            </a:solidFill>
          </a:ln>
        </p:spPr>
        <p:txBody>
          <a:bodyPr wrap="square" rtlCol="0">
            <a:spAutoFit/>
          </a:bodyPr>
          <a:lstStyle/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B4FDAAFD-E90A-2BC1-3F56-8FA473A1E0EC}"/>
              </a:ext>
            </a:extLst>
          </p:cNvPr>
          <p:cNvCxnSpPr>
            <a:cxnSpLocks/>
          </p:cNvCxnSpPr>
          <p:nvPr/>
        </p:nvCxnSpPr>
        <p:spPr bwMode="auto">
          <a:xfrm flipV="1">
            <a:off x="6670676" y="5516444"/>
            <a:ext cx="2048246" cy="605678"/>
          </a:xfrm>
          <a:prstGeom prst="straightConnector1">
            <a:avLst/>
          </a:prstGeom>
          <a:ln w="28575">
            <a:solidFill>
              <a:srgbClr val="EE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AD01CA8C-28BA-5DBA-89F1-48A6905765DE}"/>
              </a:ext>
            </a:extLst>
          </p:cNvPr>
          <p:cNvSpPr txBox="1"/>
          <p:nvPr/>
        </p:nvSpPr>
        <p:spPr bwMode="auto">
          <a:xfrm>
            <a:off x="8718922" y="5449951"/>
            <a:ext cx="17363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Free Connectors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E02926-F5FB-6C51-E2D0-30FCC8993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06/12/2025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DDFBB1-0230-2A13-A887-01777778E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33A2A5D-5A42-4533-ACF4-15D55555B360}" type="slidenum">
              <a:rPr lang="en-GB" smtClean="0"/>
              <a:t>3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739A895-87BD-C9DB-DA15-F29DE94E387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4852" y="1"/>
            <a:ext cx="3125372" cy="84238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482F8-1347-DEC5-1ED0-0F6E05EEA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</a:br>
            <a:br>
              <a:rPr lang="en-US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en-US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CFL15: ESP32 As Access Point</a:t>
            </a:r>
            <a:br>
              <a:rPr lang="en-GB" b="1" dirty="0">
                <a:solidFill>
                  <a:srgbClr val="7030A0"/>
                </a:solidFill>
              </a:rPr>
            </a:br>
            <a:br>
              <a:rPr lang="en-GB" b="1" dirty="0">
                <a:solidFill>
                  <a:srgbClr val="7030A0"/>
                </a:solidFill>
              </a:rPr>
            </a:br>
            <a:endParaRPr lang="en-GB" b="1" dirty="0">
              <a:solidFill>
                <a:srgbClr val="FF3300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22EC62-7BFF-858A-D846-91789E9025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1013"/>
            <a:ext cx="10515600" cy="4351338"/>
          </a:xfrm>
        </p:spPr>
        <p:txBody>
          <a:bodyPr/>
          <a:lstStyle/>
          <a:p>
            <a:r>
              <a:rPr lang="en-GB" b="1" dirty="0"/>
              <a:t>Things Needed</a:t>
            </a:r>
          </a:p>
          <a:p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CC0CDC-7C73-2B32-1083-BECC3125F83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4852" y="1"/>
            <a:ext cx="3125372" cy="842386"/>
          </a:xfrm>
          <a:prstGeom prst="rect">
            <a:avLst/>
          </a:prstGeom>
        </p:spPr>
      </p:pic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DEA5F98B-EA2D-8434-CDBE-E779F35C5A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9810FD22-43DC-BAB4-68F1-1F8924F243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4</a:t>
            </a:fld>
            <a:endParaRPr lang="en-GB"/>
          </a:p>
        </p:txBody>
      </p:sp>
      <p:pic>
        <p:nvPicPr>
          <p:cNvPr id="6" name="Picture 5" descr="A blue electronic board with black and white components&#10;&#10;AI-generated content may be incorrect.">
            <a:extLst>
              <a:ext uri="{FF2B5EF4-FFF2-40B4-BE49-F238E27FC236}">
                <a16:creationId xmlns:a16="http://schemas.microsoft.com/office/drawing/2014/main" id="{D321BE0E-850B-DA08-7A4D-3D7C44E6FD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4589" y="3389035"/>
            <a:ext cx="3435835" cy="3155950"/>
          </a:xfrm>
          <a:prstGeom prst="rect">
            <a:avLst/>
          </a:prstGeom>
        </p:spPr>
      </p:pic>
      <p:sp>
        <p:nvSpPr>
          <p:cNvPr id="7" name="Slide Number Placeholder 10">
            <a:extLst>
              <a:ext uri="{FF2B5EF4-FFF2-40B4-BE49-F238E27FC236}">
                <a16:creationId xmlns:a16="http://schemas.microsoft.com/office/drawing/2014/main" id="{A058AC05-157D-D0B6-D4A2-36B88D177A48}"/>
              </a:ext>
            </a:extLst>
          </p:cNvPr>
          <p:cNvSpPr txBox="1">
            <a:spLocks/>
          </p:cNvSpPr>
          <p:nvPr/>
        </p:nvSpPr>
        <p:spPr>
          <a:xfrm>
            <a:off x="2706171" y="841982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1F5A6A5-3841-4FBA-B455-67883EB3171A}" type="slidenum">
              <a:rPr lang="en-GB" smtClean="0"/>
              <a:pPr/>
              <a:t>4</a:t>
            </a:fld>
            <a:endParaRPr lang="en-GB"/>
          </a:p>
        </p:txBody>
      </p:sp>
      <p:pic>
        <p:nvPicPr>
          <p:cNvPr id="10" name="Picture 9" descr="A black and silver usb cable&#10;&#10;AI-generated content may be incorrect.">
            <a:extLst>
              <a:ext uri="{FF2B5EF4-FFF2-40B4-BE49-F238E27FC236}">
                <a16:creationId xmlns:a16="http://schemas.microsoft.com/office/drawing/2014/main" id="{8E0F1F09-D256-CC2C-5A02-49D6721448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5933" y="4870173"/>
            <a:ext cx="1583078" cy="156163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211D7D6-C2C4-6DD4-9AC3-BBBC63B4B1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-248164" y="4977413"/>
            <a:ext cx="1633833" cy="1087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35252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19373-B76F-7B3E-0BE4-7B8C75B470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CFL15: ESP32 As Access Point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67066B-0271-9C05-BD42-601DBBFE7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B66B6A-642E-1C76-4A95-A24401F70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5</a:t>
            </a:fld>
            <a:endParaRPr lang="en-GB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18A659E-ECDE-0462-9664-B402670A73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0537066"/>
              </p:ext>
            </p:extLst>
          </p:nvPr>
        </p:nvGraphicFramePr>
        <p:xfrm>
          <a:off x="1099931" y="2961861"/>
          <a:ext cx="2842592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1296">
                  <a:extLst>
                    <a:ext uri="{9D8B030D-6E8A-4147-A177-3AD203B41FA5}">
                      <a16:colId xmlns:a16="http://schemas.microsoft.com/office/drawing/2014/main" val="1233141021"/>
                    </a:ext>
                  </a:extLst>
                </a:gridCol>
                <a:gridCol w="1421296">
                  <a:extLst>
                    <a:ext uri="{9D8B030D-6E8A-4147-A177-3AD203B41FA5}">
                      <a16:colId xmlns:a16="http://schemas.microsoft.com/office/drawing/2014/main" val="36966449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DHT11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ESP32 Pin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45803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VCC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5V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15796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GND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GND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63927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2525877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7CCFE015-9526-C62B-6453-814B872E8FC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4852" y="1"/>
            <a:ext cx="3125372" cy="84238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322B706-6AAD-269A-C819-C8920D7FA3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5987" y="1787039"/>
            <a:ext cx="4261551" cy="4472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2474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192F0A-E788-E54D-AF75-5C15727EB4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CFL15: ESP32 As Access Point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ED9560-5E61-CB24-D556-8DF88C951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831C58-DC0F-C37A-0E6D-4DA217441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6</a:t>
            </a:fld>
            <a:endParaRPr lang="en-GB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334FF511-5341-EE91-696C-23245D398C5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4852" y="1"/>
            <a:ext cx="3125372" cy="84238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D73F60C-A5E2-B6ED-361F-E2BA68B8C135}"/>
              </a:ext>
            </a:extLst>
          </p:cNvPr>
          <p:cNvSpPr txBox="1"/>
          <p:nvPr/>
        </p:nvSpPr>
        <p:spPr>
          <a:xfrm>
            <a:off x="1140542" y="2274838"/>
            <a:ext cx="5063613" cy="2308324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GB" sz="1600" dirty="0"/>
              <a:t>setup()</a:t>
            </a:r>
          </a:p>
          <a:p>
            <a:r>
              <a:rPr lang="en-GB" sz="1600" dirty="0"/>
              <a:t>    • Initialize Serial monitor</a:t>
            </a:r>
          </a:p>
          <a:p>
            <a:r>
              <a:rPr lang="en-GB" sz="1600" dirty="0"/>
              <a:t>    • Start DHT11 sensor</a:t>
            </a:r>
          </a:p>
          <a:p>
            <a:r>
              <a:rPr lang="en-GB" sz="1600" dirty="0"/>
              <a:t>    • Configure ESP32 as a </a:t>
            </a:r>
            <a:r>
              <a:rPr lang="en-GB" sz="1600" dirty="0" err="1"/>
              <a:t>WiFi</a:t>
            </a:r>
            <a:r>
              <a:rPr lang="en-GB" sz="1600" dirty="0"/>
              <a:t> Access Point (AP)</a:t>
            </a:r>
          </a:p>
          <a:p>
            <a:r>
              <a:rPr lang="en-GB" sz="1600" dirty="0"/>
              <a:t>        - SSID: "</a:t>
            </a:r>
            <a:r>
              <a:rPr lang="en-GB" sz="1600" dirty="0" err="1">
                <a:highlight>
                  <a:srgbClr val="FFFF00"/>
                </a:highlight>
              </a:rPr>
              <a:t>Agri_Field_Node</a:t>
            </a:r>
            <a:r>
              <a:rPr lang="en-GB" sz="1600" dirty="0">
                <a:highlight>
                  <a:srgbClr val="FFFF00"/>
                </a:highlight>
              </a:rPr>
              <a:t>"</a:t>
            </a:r>
          </a:p>
          <a:p>
            <a:r>
              <a:rPr lang="en-GB" sz="1600" dirty="0"/>
              <a:t>        - Password: "</a:t>
            </a:r>
            <a:r>
              <a:rPr lang="en-GB" sz="1600" dirty="0">
                <a:highlight>
                  <a:srgbClr val="FFFF00"/>
                </a:highlight>
              </a:rPr>
              <a:t>farm12345"</a:t>
            </a:r>
          </a:p>
          <a:p>
            <a:r>
              <a:rPr lang="en-GB" sz="1600" dirty="0"/>
              <a:t>    • Print AP IP address (usually 192.168.4.1)</a:t>
            </a:r>
          </a:p>
          <a:p>
            <a:r>
              <a:rPr lang="en-GB" sz="1600" dirty="0"/>
              <a:t>    • Start an HTTP server on port 80</a:t>
            </a:r>
          </a:p>
          <a:p>
            <a:r>
              <a:rPr lang="en-GB" sz="1600" dirty="0"/>
              <a:t>    • Register handler for "/" to show the sensor dashboard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D47549-DF57-915A-4628-0B0B93229DC2}"/>
              </a:ext>
            </a:extLst>
          </p:cNvPr>
          <p:cNvSpPr txBox="1"/>
          <p:nvPr/>
        </p:nvSpPr>
        <p:spPr>
          <a:xfrm>
            <a:off x="1140541" y="4578133"/>
            <a:ext cx="5063613" cy="1569660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600"/>
            </a:lvl1pPr>
          </a:lstStyle>
          <a:p>
            <a:r>
              <a:rPr lang="en-GB" dirty="0"/>
              <a:t>loop()</a:t>
            </a:r>
          </a:p>
          <a:p>
            <a:r>
              <a:rPr lang="en-GB" dirty="0"/>
              <a:t>    • Handle incoming web browser requests</a:t>
            </a:r>
          </a:p>
          <a:p>
            <a:r>
              <a:rPr lang="en-GB" dirty="0"/>
              <a:t>    • Every 3 seconds:</a:t>
            </a:r>
          </a:p>
          <a:p>
            <a:r>
              <a:rPr lang="en-GB" dirty="0"/>
              <a:t>          - Read temperature and humidity from DHT11</a:t>
            </a:r>
          </a:p>
          <a:p>
            <a:r>
              <a:rPr lang="en-GB" dirty="0"/>
              <a:t>          - Print values to Serial Monitor</a:t>
            </a:r>
          </a:p>
          <a:p>
            <a:r>
              <a:rPr lang="en-GB" dirty="0"/>
              <a:t>          - Report error if sensor read fails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D51BCDA-25DB-E3F3-D785-61BFD00C3B09}"/>
              </a:ext>
            </a:extLst>
          </p:cNvPr>
          <p:cNvSpPr txBox="1"/>
          <p:nvPr/>
        </p:nvSpPr>
        <p:spPr>
          <a:xfrm>
            <a:off x="1140541" y="1598971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B0F0"/>
                </a:solidFill>
              </a:rPr>
              <a:t>ESP32 Agriculture Field Monitor (Access Point + Web Dashboard)</a:t>
            </a:r>
            <a:endParaRPr lang="en-GB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28926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38479-ED1B-1ABC-554E-F9B054C951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CFL15: ESP32 As Access Point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711879-1C35-A695-C677-B1F8AFC113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5E3005-A0FD-D946-286B-D39DF0A4C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7</a:t>
            </a:fld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EF35602-28A3-156D-4BB5-CEFB6837BD6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4852" y="1"/>
            <a:ext cx="3125372" cy="842386"/>
          </a:xfrm>
          <a:prstGeom prst="rect">
            <a:avLst/>
          </a:prstGeom>
        </p:spPr>
      </p:pic>
      <p:sp>
        <p:nvSpPr>
          <p:cNvPr id="21" name="TextBox 13">
            <a:extLst>
              <a:ext uri="{FF2B5EF4-FFF2-40B4-BE49-F238E27FC236}">
                <a16:creationId xmlns:a16="http://schemas.microsoft.com/office/drawing/2014/main" id="{ACEAF707-618F-236C-6E7E-A29776A2A208}"/>
              </a:ext>
            </a:extLst>
          </p:cNvPr>
          <p:cNvSpPr txBox="1"/>
          <p:nvPr/>
        </p:nvSpPr>
        <p:spPr bwMode="auto">
          <a:xfrm>
            <a:off x="838200" y="5298256"/>
            <a:ext cx="54110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GB" b="1" dirty="0"/>
              <a:t>Code for Lesson CFL15 (</a:t>
            </a:r>
            <a:r>
              <a:rPr lang="fr-FR" b="1" dirty="0"/>
              <a:t>CFL15_AgricutureField_AP_Node</a:t>
            </a:r>
            <a:r>
              <a:rPr lang="en-GB" b="1" dirty="0"/>
              <a:t>.</a:t>
            </a:r>
            <a:r>
              <a:rPr lang="en-GB" b="1" dirty="0" err="1"/>
              <a:t>ino</a:t>
            </a:r>
            <a:r>
              <a:rPr lang="en-GB" b="1" dirty="0"/>
              <a:t>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65DD5C-64B1-C348-C374-97268AAA4E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716" y="1357351"/>
            <a:ext cx="3760129" cy="394090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62794F0-9D53-0D64-0C6A-C249496E15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7103" y="1321313"/>
            <a:ext cx="3806993" cy="4346318"/>
          </a:xfrm>
          <a:prstGeom prst="rect">
            <a:avLst/>
          </a:prstGeom>
        </p:spPr>
      </p:pic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B9C2025-FCB5-A54D-A962-30D3B5F20BCE}"/>
              </a:ext>
            </a:extLst>
          </p:cNvPr>
          <p:cNvSpPr/>
          <p:nvPr/>
        </p:nvSpPr>
        <p:spPr>
          <a:xfrm>
            <a:off x="6769962" y="3048761"/>
            <a:ext cx="2234890" cy="550607"/>
          </a:xfrm>
          <a:custGeom>
            <a:avLst/>
            <a:gdLst>
              <a:gd name="csX0" fmla="*/ 2145836 w 2234890"/>
              <a:gd name="csY0" fmla="*/ 196645 h 550607"/>
              <a:gd name="csX1" fmla="*/ 1900029 w 2234890"/>
              <a:gd name="csY1" fmla="*/ 117987 h 550607"/>
              <a:gd name="csX2" fmla="*/ 1644390 w 2234890"/>
              <a:gd name="csY2" fmla="*/ 39329 h 550607"/>
              <a:gd name="csX3" fmla="*/ 1182274 w 2234890"/>
              <a:gd name="csY3" fmla="*/ 0 h 550607"/>
              <a:gd name="csX4" fmla="*/ 680829 w 2234890"/>
              <a:gd name="csY4" fmla="*/ 19665 h 550607"/>
              <a:gd name="csX5" fmla="*/ 356365 w 2234890"/>
              <a:gd name="csY5" fmla="*/ 58994 h 550607"/>
              <a:gd name="csX6" fmla="*/ 228545 w 2234890"/>
              <a:gd name="csY6" fmla="*/ 98323 h 550607"/>
              <a:gd name="csX7" fmla="*/ 90894 w 2234890"/>
              <a:gd name="csY7" fmla="*/ 157316 h 550607"/>
              <a:gd name="csX8" fmla="*/ 12236 w 2234890"/>
              <a:gd name="csY8" fmla="*/ 275303 h 550607"/>
              <a:gd name="csX9" fmla="*/ 12236 w 2234890"/>
              <a:gd name="csY9" fmla="*/ 452284 h 550607"/>
              <a:gd name="csX10" fmla="*/ 71229 w 2234890"/>
              <a:gd name="csY10" fmla="*/ 501445 h 550607"/>
              <a:gd name="csX11" fmla="*/ 258042 w 2234890"/>
              <a:gd name="csY11" fmla="*/ 550607 h 550607"/>
              <a:gd name="csX12" fmla="*/ 975797 w 2234890"/>
              <a:gd name="csY12" fmla="*/ 540774 h 550607"/>
              <a:gd name="csX13" fmla="*/ 1103616 w 2234890"/>
              <a:gd name="csY13" fmla="*/ 530942 h 550607"/>
              <a:gd name="csX14" fmla="*/ 1369087 w 2234890"/>
              <a:gd name="csY14" fmla="*/ 491613 h 550607"/>
              <a:gd name="csX15" fmla="*/ 1467410 w 2234890"/>
              <a:gd name="csY15" fmla="*/ 471948 h 550607"/>
              <a:gd name="csX16" fmla="*/ 1614894 w 2234890"/>
              <a:gd name="csY16" fmla="*/ 462116 h 550607"/>
              <a:gd name="csX17" fmla="*/ 1791874 w 2234890"/>
              <a:gd name="csY17" fmla="*/ 432619 h 550607"/>
              <a:gd name="csX18" fmla="*/ 1870532 w 2234890"/>
              <a:gd name="csY18" fmla="*/ 412955 h 550607"/>
              <a:gd name="csX19" fmla="*/ 1959023 w 2234890"/>
              <a:gd name="csY19" fmla="*/ 393290 h 550607"/>
              <a:gd name="csX20" fmla="*/ 2037681 w 2234890"/>
              <a:gd name="csY20" fmla="*/ 383458 h 550607"/>
              <a:gd name="csX21" fmla="*/ 2155668 w 2234890"/>
              <a:gd name="csY21" fmla="*/ 324465 h 550607"/>
              <a:gd name="csX22" fmla="*/ 2194997 w 2234890"/>
              <a:gd name="csY22" fmla="*/ 275303 h 550607"/>
              <a:gd name="csX23" fmla="*/ 2234326 w 2234890"/>
              <a:gd name="csY23" fmla="*/ 157316 h 550607"/>
              <a:gd name="csX24" fmla="*/ 2224494 w 2234890"/>
              <a:gd name="csY24" fmla="*/ 78658 h 55060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</a:cxnLst>
            <a:rect l="l" t="t" r="r" b="b"/>
            <a:pathLst>
              <a:path w="2234890" h="550607">
                <a:moveTo>
                  <a:pt x="2145836" y="196645"/>
                </a:moveTo>
                <a:cubicBezTo>
                  <a:pt x="2014867" y="131161"/>
                  <a:pt x="2150224" y="193803"/>
                  <a:pt x="1900029" y="117987"/>
                </a:cubicBezTo>
                <a:cubicBezTo>
                  <a:pt x="1749287" y="72308"/>
                  <a:pt x="1788772" y="66401"/>
                  <a:pt x="1644390" y="39329"/>
                </a:cubicBezTo>
                <a:cubicBezTo>
                  <a:pt x="1431008" y="-680"/>
                  <a:pt x="1419348" y="8780"/>
                  <a:pt x="1182274" y="0"/>
                </a:cubicBezTo>
                <a:cubicBezTo>
                  <a:pt x="1015126" y="6555"/>
                  <a:pt x="847681" y="7747"/>
                  <a:pt x="680829" y="19665"/>
                </a:cubicBezTo>
                <a:cubicBezTo>
                  <a:pt x="572160" y="27427"/>
                  <a:pt x="356365" y="58994"/>
                  <a:pt x="356365" y="58994"/>
                </a:cubicBezTo>
                <a:cubicBezTo>
                  <a:pt x="313758" y="72104"/>
                  <a:pt x="271408" y="86077"/>
                  <a:pt x="228545" y="98323"/>
                </a:cubicBezTo>
                <a:cubicBezTo>
                  <a:pt x="157373" y="118658"/>
                  <a:pt x="145778" y="107421"/>
                  <a:pt x="90894" y="157316"/>
                </a:cubicBezTo>
                <a:cubicBezTo>
                  <a:pt x="44519" y="199475"/>
                  <a:pt x="38697" y="222380"/>
                  <a:pt x="12236" y="275303"/>
                </a:cubicBezTo>
                <a:cubicBezTo>
                  <a:pt x="4451" y="329793"/>
                  <a:pt x="-10892" y="399420"/>
                  <a:pt x="12236" y="452284"/>
                </a:cubicBezTo>
                <a:cubicBezTo>
                  <a:pt x="22496" y="475735"/>
                  <a:pt x="49004" y="488745"/>
                  <a:pt x="71229" y="501445"/>
                </a:cubicBezTo>
                <a:cubicBezTo>
                  <a:pt x="127242" y="533453"/>
                  <a:pt x="196865" y="539484"/>
                  <a:pt x="258042" y="550607"/>
                </a:cubicBezTo>
                <a:lnTo>
                  <a:pt x="975797" y="540774"/>
                </a:lnTo>
                <a:cubicBezTo>
                  <a:pt x="1018518" y="539780"/>
                  <a:pt x="1061214" y="536242"/>
                  <a:pt x="1103616" y="530942"/>
                </a:cubicBezTo>
                <a:cubicBezTo>
                  <a:pt x="1192381" y="519846"/>
                  <a:pt x="1281368" y="509157"/>
                  <a:pt x="1369087" y="491613"/>
                </a:cubicBezTo>
                <a:cubicBezTo>
                  <a:pt x="1401861" y="485058"/>
                  <a:pt x="1434225" y="475930"/>
                  <a:pt x="1467410" y="471948"/>
                </a:cubicBezTo>
                <a:cubicBezTo>
                  <a:pt x="1516329" y="466078"/>
                  <a:pt x="1565733" y="465393"/>
                  <a:pt x="1614894" y="462116"/>
                </a:cubicBezTo>
                <a:cubicBezTo>
                  <a:pt x="1904748" y="397706"/>
                  <a:pt x="1504030" y="483416"/>
                  <a:pt x="1791874" y="432619"/>
                </a:cubicBezTo>
                <a:cubicBezTo>
                  <a:pt x="1818489" y="427922"/>
                  <a:pt x="1844224" y="419145"/>
                  <a:pt x="1870532" y="412955"/>
                </a:cubicBezTo>
                <a:cubicBezTo>
                  <a:pt x="1899945" y="406034"/>
                  <a:pt x="1929266" y="398541"/>
                  <a:pt x="1959023" y="393290"/>
                </a:cubicBezTo>
                <a:cubicBezTo>
                  <a:pt x="1985044" y="388698"/>
                  <a:pt x="2011462" y="386735"/>
                  <a:pt x="2037681" y="383458"/>
                </a:cubicBezTo>
                <a:cubicBezTo>
                  <a:pt x="2078210" y="367247"/>
                  <a:pt x="2121172" y="352689"/>
                  <a:pt x="2155668" y="324465"/>
                </a:cubicBezTo>
                <a:cubicBezTo>
                  <a:pt x="2171910" y="311176"/>
                  <a:pt x="2181887" y="291690"/>
                  <a:pt x="2194997" y="275303"/>
                </a:cubicBezTo>
                <a:cubicBezTo>
                  <a:pt x="2208107" y="235974"/>
                  <a:pt x="2239468" y="198452"/>
                  <a:pt x="2234326" y="157316"/>
                </a:cubicBezTo>
                <a:lnTo>
                  <a:pt x="2224494" y="78658"/>
                </a:lnTo>
              </a:path>
            </a:pathLst>
          </a:cu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34723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9260AE-AD9F-7DB0-A702-F0A828D6A8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CFL15: ESP32 As Access Point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4FC0B6-BD8A-E952-9DCC-A6804B7B9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5539D7-0077-82B3-69E8-1BADE8DD8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8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4800CBA-8F97-CF78-6974-28F490F974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980493"/>
            <a:ext cx="4931810" cy="574098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CD7F355-5E81-C5A3-9EDE-E0F4133AD4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5056" y="1813639"/>
            <a:ext cx="5553692" cy="4419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96206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1552</TotalTime>
  <Words>287</Words>
  <Application>Microsoft Office PowerPoint</Application>
  <PresentationFormat>Widescreen</PresentationFormat>
  <Paragraphs>73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Communication Kit (Kit 3)</vt:lpstr>
      <vt:lpstr>Communication Kit : Contents</vt:lpstr>
      <vt:lpstr>Kit 3 Communication Creative Board - Features</vt:lpstr>
      <vt:lpstr>  CFL15: ESP32 As Access Point  </vt:lpstr>
      <vt:lpstr>CFL15: ESP32 As Access Point</vt:lpstr>
      <vt:lpstr>CFL15: ESP32 As Access Point</vt:lpstr>
      <vt:lpstr>CFL15: ESP32 As Access Point</vt:lpstr>
      <vt:lpstr>CFL15: ESP32 As Access 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Fakruddin Mohammed</dc:creator>
  <cp:lastModifiedBy>Fakruddin Mohammed</cp:lastModifiedBy>
  <cp:revision>71</cp:revision>
  <dcterms:created xsi:type="dcterms:W3CDTF">2025-12-15T19:48:42Z</dcterms:created>
  <dcterms:modified xsi:type="dcterms:W3CDTF">2026-01-07T20:29:48Z</dcterms:modified>
</cp:coreProperties>
</file>