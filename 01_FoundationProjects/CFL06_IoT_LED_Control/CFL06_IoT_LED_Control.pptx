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561" r:id="rId3"/>
    <p:sldId id="260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1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3FEA32-2B8B-4244-A536-214CF6D4B9AB}" type="datetimeFigureOut">
              <a:rPr lang="en-GB" smtClean="0"/>
              <a:t>02/01/2026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D2CD01-2772-4AF8-9466-73774B5F01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304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729318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34970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37228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464B0B-3CDA-8AFD-A136-AA80755CE96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5D21-5C4F-8D9E-7FA8-76F7F6342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9D9B3-8F15-A5BD-3712-7E9B6FB9BB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3F52-B7DA-A46F-7D47-F3165BA00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DE237-D0A8-8204-0CBC-116E5240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27FEF-679B-858D-946F-54A02B4B3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5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F8531-151F-744E-6E6B-6289ADDEA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542F-505E-8990-FA6A-1C0926767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A6E7E-6DE9-2DCD-CEB7-C34692D5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BB5AF-1A83-E4B7-F215-3322543F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F16BA-8086-5B54-3073-62329D1BE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37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BA0FE-A8AD-7D8B-D9AF-32BE2DF4B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975F9-423B-F4B0-21FD-AD9E591907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639C2A-A532-6A07-D74B-DFA878339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FF95C-1489-D66D-17EE-7E7F4BDE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C3CEA-0A0C-F0E0-2382-FE3CFFA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55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A62B-3196-810C-25DA-867E58E4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79251-ADB9-564F-A0E8-4544B5DD25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338357-F991-916E-F55E-D33B3B558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B712E3-C5C9-A553-608F-F6617A9BB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02906B-4867-30DD-0DCE-BC37F1AC1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06FF6-B6C3-3F5B-617C-092C9CEB5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8601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C197-A54D-0BC2-1361-071D144C8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7F5B1B-2A95-BC89-83B7-73DDD9787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E93C43-1D8D-B03E-ADF5-E8FE0B295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8C70AF-659D-A939-1A82-B4EBD7B84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439A98-65A3-3CF5-AD07-9AAC8288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B3538-91A6-D119-5D4B-7FBF59B2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2852D7-8ADE-231B-1748-76E48145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06E61-8A9B-EA2A-EAAD-0B862C76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C9240-87DD-5F4C-0863-5DA6FB538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9AC3C-F8C1-59A1-4915-364581564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29AB9-B5FC-420A-E844-DE2DCB4C1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127500-6C83-17A4-C2D6-31B648FE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66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C8079-13FD-8590-4D92-1477F029B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FC357A-F34C-E06D-7085-97B89AD6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67FF8-8244-9FD5-7677-5BF0C2928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54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662F-416B-A35F-03C2-53DFA6DC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53E01-08C9-C606-714F-14B984E64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283E3-BEF2-0983-B542-9CC494C8B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192B0-8202-50EF-4F30-CD86E593F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81173-902E-BB87-52CA-02814A42D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13DABF-C3FB-6892-42E2-3042028ED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6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37CE-6997-2F94-6AB8-28894A468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253F0-61CB-494C-9AE2-75D4D6A8E2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BB420-64D6-A41D-342E-50D18D8B7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1583DC-D3BC-F8A0-CAF3-53E862AAF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07A1B-67EC-2703-4322-26748FC7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4383E-78FC-B5FE-595F-0448B665D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072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044FA-6991-3534-22D7-EFD58AC24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A5CF4C-1405-BFA5-0A04-5D82CB2AD1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35254-5C3A-03C6-2789-A0372290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F644E-9AE7-6B98-3779-AD44811E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D016E-072A-A391-875E-41D05145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48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F21B1-1D8F-7580-A9B7-CF11AB94CE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A3E446-2D02-E169-F4CE-59F4A64FF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AA05B-0406-D755-E324-32CBD4898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4BF43-763C-F446-1231-1FB6CB83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38E66-0A51-C30E-742E-1C95BDC83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36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7EBAD-5A44-D508-FACE-3A970FC0D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969B6-7349-041D-7E62-61E13762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CF7F-72A8-368D-2FDD-B58429DC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December 2025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BB911-5ECA-16CF-A969-6C2522606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4F58A-1703-F328-A5DA-1551CB2F4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5A6A5-3841-4FBA-B455-67883EB3171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97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A3085-A2D2-7D5C-B934-F2C3DCCEEE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(Kit 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34C40-3026-31E4-C761-275DD9A0E7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829800" cy="1655762"/>
          </a:xfrm>
        </p:spPr>
        <p:txBody>
          <a:bodyPr>
            <a:normAutofit fontScale="92500" lnSpcReduction="10000"/>
          </a:bodyPr>
          <a:lstStyle/>
          <a:p>
            <a:r>
              <a:rPr lang="en-GB" sz="3600" b="1" dirty="0">
                <a:solidFill>
                  <a:srgbClr val="00B0F0"/>
                </a:solidFill>
              </a:rPr>
              <a:t>Communication Foundation Lessons (CFL)</a:t>
            </a:r>
          </a:p>
          <a:p>
            <a:r>
              <a:rPr lang="en-GB" sz="3600" b="1" dirty="0">
                <a:solidFill>
                  <a:srgbClr val="00B0F0"/>
                </a:solidFill>
              </a:rPr>
              <a:t>(Lesson Ref: CFL02)</a:t>
            </a:r>
          </a:p>
          <a:p>
            <a:r>
              <a:rPr lang="en-US" sz="3600" b="1" dirty="0">
                <a:solidFill>
                  <a:srgbClr val="7030A0"/>
                </a:solidFill>
              </a:rPr>
              <a:t>CFL07: Bluetooth LED Control</a:t>
            </a:r>
            <a:endParaRPr lang="en-GB" sz="3600" b="1" dirty="0">
              <a:solidFill>
                <a:srgbClr val="7030A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9294-41F4-4FD5-344C-22E11DE3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0F8A61-A0DD-1E95-4A27-EF5FD8DC6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D94DA-C92E-EFF6-9BB4-6FD6B1B5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37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05A1-8163-931A-0AC5-4711F7A4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882" y="9592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Kit : Contents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34387A-57AF-85E7-D37E-6EEEF9D3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E077C-C2C2-1A6F-4A31-E6F0AB633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A2A5D-5A42-4533-ACF4-15D55555B360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3CF65C-3B0D-4730-0E30-DB8DC39960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AC25C5-432E-8472-0A6B-B89408892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8479" y="1380661"/>
            <a:ext cx="5847522" cy="43609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EC2A0-8833-DC11-D0B9-6B849F16D6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6508" y="1477756"/>
            <a:ext cx="4197264" cy="4263887"/>
          </a:xfrm>
          <a:prstGeom prst="rect">
            <a:avLst/>
          </a:prstGeom>
        </p:spPr>
      </p:pic>
      <p:sp>
        <p:nvSpPr>
          <p:cNvPr id="8" name="TextBox 45">
            <a:extLst>
              <a:ext uri="{FF2B5EF4-FFF2-40B4-BE49-F238E27FC236}">
                <a16:creationId xmlns:a16="http://schemas.microsoft.com/office/drawing/2014/main" id="{8DC5E389-0D5A-F470-2189-C2FF3449BF66}"/>
              </a:ext>
            </a:extLst>
          </p:cNvPr>
          <p:cNvSpPr txBox="1"/>
          <p:nvPr/>
        </p:nvSpPr>
        <p:spPr bwMode="auto">
          <a:xfrm>
            <a:off x="1530469" y="5933742"/>
            <a:ext cx="3260408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b="1" dirty="0"/>
              <a:t>Communication</a:t>
            </a:r>
            <a:r>
              <a:rPr lang="en-GB" b="1" dirty="0"/>
              <a:t> Kit Components</a:t>
            </a:r>
            <a:endParaRPr dirty="0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2EF83828-E71C-4BA2-4142-04C145376EDA}"/>
              </a:ext>
            </a:extLst>
          </p:cNvPr>
          <p:cNvSpPr txBox="1"/>
          <p:nvPr/>
        </p:nvSpPr>
        <p:spPr bwMode="auto">
          <a:xfrm>
            <a:off x="7589967" y="5933741"/>
            <a:ext cx="3150347" cy="36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800" b="1" i="0" u="none" strike="noStrike" cap="none" spc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Communication</a:t>
            </a:r>
            <a:r>
              <a:rPr lang="en-GB" b="1" dirty="0"/>
              <a:t> Creative Board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566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047694" name="Title 1"/>
          <p:cNvSpPr>
            <a:spLocks noGrp="1"/>
          </p:cNvSpPr>
          <p:nvPr>
            <p:ph type="title"/>
          </p:nvPr>
        </p:nvSpPr>
        <p:spPr bwMode="auto"/>
        <p:txBody>
          <a:bodyPr vert="horz" lIns="91440" tIns="45720" rIns="91440" bIns="45720" rtlCol="0" anchor="ctr">
            <a:normAutofit/>
          </a:bodyPr>
          <a:lstStyle/>
          <a:p>
            <a:pPr rtl="0">
              <a:spcBef>
                <a:spcPct val="0"/>
              </a:spcBef>
            </a:pP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Kit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3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Communication </a:t>
            </a:r>
            <a:r>
              <a:rPr lang="en-GB" b="1" kern="1200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Creative Board - Features</a:t>
            </a:r>
            <a:endParaRPr b="1" kern="1200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F7B30-4988-34F3-4821-794FB38B04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48464" y="1770208"/>
            <a:ext cx="4862629" cy="493981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E2975DB-E2B1-3D15-2A22-93E1C92B221A}"/>
              </a:ext>
            </a:extLst>
          </p:cNvPr>
          <p:cNvCxnSpPr/>
          <p:nvPr/>
        </p:nvCxnSpPr>
        <p:spPr>
          <a:xfrm flipH="1" flipV="1">
            <a:off x="1926772" y="256358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B9ACF50-60B2-A66B-FC8F-F5E0E708EEC5}"/>
              </a:ext>
            </a:extLst>
          </p:cNvPr>
          <p:cNvCxnSpPr>
            <a:cxnSpLocks/>
          </p:cNvCxnSpPr>
          <p:nvPr/>
        </p:nvCxnSpPr>
        <p:spPr bwMode="auto">
          <a:xfrm flipV="1">
            <a:off x="6889587" y="1715780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216B88E-0D01-A116-9F44-7020C7D75BA1}"/>
              </a:ext>
            </a:extLst>
          </p:cNvPr>
          <p:cNvSpPr txBox="1"/>
          <p:nvPr/>
        </p:nvSpPr>
        <p:spPr>
          <a:xfrm>
            <a:off x="9632785" y="1545782"/>
            <a:ext cx="1765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LoRa Module I/F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D9C85B-50AB-D7BD-3A53-E563397E2A5B}"/>
              </a:ext>
            </a:extLst>
          </p:cNvPr>
          <p:cNvSpPr txBox="1"/>
          <p:nvPr/>
        </p:nvSpPr>
        <p:spPr bwMode="auto">
          <a:xfrm>
            <a:off x="1138883" y="2314886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ESP32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90B6FB5-6A3E-F498-3D69-7A1FBABE0E26}"/>
              </a:ext>
            </a:extLst>
          </p:cNvPr>
          <p:cNvCxnSpPr>
            <a:cxnSpLocks/>
          </p:cNvCxnSpPr>
          <p:nvPr/>
        </p:nvCxnSpPr>
        <p:spPr bwMode="auto">
          <a:xfrm flipV="1">
            <a:off x="7052872" y="2867182"/>
            <a:ext cx="2743198" cy="783772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216E2B2-A493-5878-80CF-CE572B548F57}"/>
              </a:ext>
            </a:extLst>
          </p:cNvPr>
          <p:cNvSpPr txBox="1"/>
          <p:nvPr/>
        </p:nvSpPr>
        <p:spPr bwMode="auto">
          <a:xfrm>
            <a:off x="9796070" y="2602966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OLED I/F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2CEF49-9565-4353-6CE3-BA57A4A8A906}"/>
              </a:ext>
            </a:extLst>
          </p:cNvPr>
          <p:cNvCxnSpPr>
            <a:cxnSpLocks/>
          </p:cNvCxnSpPr>
          <p:nvPr/>
        </p:nvCxnSpPr>
        <p:spPr bwMode="auto">
          <a:xfrm flipV="1">
            <a:off x="7805059" y="2282744"/>
            <a:ext cx="1827726" cy="50488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919051-7F1C-8A10-D296-E6155E7B5D94}"/>
              </a:ext>
            </a:extLst>
          </p:cNvPr>
          <p:cNvSpPr txBox="1"/>
          <p:nvPr/>
        </p:nvSpPr>
        <p:spPr bwMode="auto">
          <a:xfrm>
            <a:off x="9796070" y="2080662"/>
            <a:ext cx="2254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NRF24L01 Module I/F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580061-4FAC-8D17-0DE4-3134E6A611BC}"/>
              </a:ext>
            </a:extLst>
          </p:cNvPr>
          <p:cNvCxnSpPr>
            <a:cxnSpLocks/>
          </p:cNvCxnSpPr>
          <p:nvPr/>
        </p:nvCxnSpPr>
        <p:spPr bwMode="auto">
          <a:xfrm flipV="1">
            <a:off x="7747824" y="3204820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94428AD-8C9E-E2A3-3189-B1017094D23C}"/>
              </a:ext>
            </a:extLst>
          </p:cNvPr>
          <p:cNvSpPr txBox="1"/>
          <p:nvPr/>
        </p:nvSpPr>
        <p:spPr bwMode="auto">
          <a:xfrm>
            <a:off x="9836806" y="3020154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RFID I/F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CFD017-CCC8-D2EB-DDC1-894905A78198}"/>
              </a:ext>
            </a:extLst>
          </p:cNvPr>
          <p:cNvSpPr txBox="1"/>
          <p:nvPr/>
        </p:nvSpPr>
        <p:spPr bwMode="auto">
          <a:xfrm>
            <a:off x="9796070" y="3828362"/>
            <a:ext cx="2048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SD Card Module I/F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C8FE61-FD6C-0251-47A8-5B268CC5CFB3}"/>
              </a:ext>
            </a:extLst>
          </p:cNvPr>
          <p:cNvCxnSpPr>
            <a:cxnSpLocks/>
          </p:cNvCxnSpPr>
          <p:nvPr/>
        </p:nvCxnSpPr>
        <p:spPr bwMode="auto">
          <a:xfrm flipV="1">
            <a:off x="7788560" y="4013028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2509D3B-F2A5-6016-8A59-13465887E570}"/>
              </a:ext>
            </a:extLst>
          </p:cNvPr>
          <p:cNvCxnSpPr>
            <a:cxnSpLocks/>
          </p:cNvCxnSpPr>
          <p:nvPr/>
        </p:nvCxnSpPr>
        <p:spPr bwMode="auto">
          <a:xfrm flipV="1">
            <a:off x="7505531" y="4877649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3AE2AE8-70F6-913F-6DCD-D962B47AFA30}"/>
              </a:ext>
            </a:extLst>
          </p:cNvPr>
          <p:cNvSpPr txBox="1"/>
          <p:nvPr/>
        </p:nvSpPr>
        <p:spPr bwMode="auto">
          <a:xfrm>
            <a:off x="9569305" y="4672756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Rotary Encoder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343405-0070-F525-C73F-F07ECAD76F7D}"/>
              </a:ext>
            </a:extLst>
          </p:cNvPr>
          <p:cNvSpPr txBox="1"/>
          <p:nvPr/>
        </p:nvSpPr>
        <p:spPr>
          <a:xfrm>
            <a:off x="4463143" y="4315867"/>
            <a:ext cx="707571" cy="726221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A15369F-B29C-6924-07C9-C31A2585E0C5}"/>
              </a:ext>
            </a:extLst>
          </p:cNvPr>
          <p:cNvCxnSpPr/>
          <p:nvPr/>
        </p:nvCxnSpPr>
        <p:spPr bwMode="auto">
          <a:xfrm flipH="1" flipV="1">
            <a:off x="2191304" y="411517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043822-8E50-C62F-D0E4-CD19BCC50FC3}"/>
              </a:ext>
            </a:extLst>
          </p:cNvPr>
          <p:cNvSpPr txBox="1"/>
          <p:nvPr/>
        </p:nvSpPr>
        <p:spPr bwMode="auto">
          <a:xfrm>
            <a:off x="887406" y="3596956"/>
            <a:ext cx="13147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Mini</a:t>
            </a:r>
          </a:p>
          <a:p>
            <a:pPr algn="ctr"/>
            <a:r>
              <a:rPr lang="en-GB" b="1" dirty="0"/>
              <a:t>Breadboard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E97AFC-F411-8FFF-717B-A4A33D748FB9}"/>
              </a:ext>
            </a:extLst>
          </p:cNvPr>
          <p:cNvSpPr txBox="1"/>
          <p:nvPr/>
        </p:nvSpPr>
        <p:spPr bwMode="auto">
          <a:xfrm>
            <a:off x="3642020" y="4527306"/>
            <a:ext cx="678146" cy="396584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D531BEF-BB1B-33A5-AC2E-71E18688C7F8}"/>
              </a:ext>
            </a:extLst>
          </p:cNvPr>
          <p:cNvCxnSpPr/>
          <p:nvPr/>
        </p:nvCxnSpPr>
        <p:spPr bwMode="auto">
          <a:xfrm flipH="1" flipV="1">
            <a:off x="1520922" y="4527306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A88AC0-52C9-901F-BD11-0D31687167C9}"/>
              </a:ext>
            </a:extLst>
          </p:cNvPr>
          <p:cNvSpPr txBox="1"/>
          <p:nvPr/>
        </p:nvSpPr>
        <p:spPr bwMode="auto">
          <a:xfrm>
            <a:off x="607977" y="4240115"/>
            <a:ext cx="1173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Power</a:t>
            </a:r>
          </a:p>
          <a:p>
            <a:pPr algn="ctr"/>
            <a:r>
              <a:rPr lang="en-GB" b="1" dirty="0"/>
              <a:t>Connector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764177-32CC-5E45-BB56-1E60B7CADDDA}"/>
              </a:ext>
            </a:extLst>
          </p:cNvPr>
          <p:cNvCxnSpPr/>
          <p:nvPr/>
        </p:nvCxnSpPr>
        <p:spPr bwMode="auto">
          <a:xfrm flipH="1" flipV="1">
            <a:off x="2065649" y="5066397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EBCEB09-33EF-81ED-FC57-64EE766E183B}"/>
              </a:ext>
            </a:extLst>
          </p:cNvPr>
          <p:cNvSpPr txBox="1"/>
          <p:nvPr/>
        </p:nvSpPr>
        <p:spPr bwMode="auto">
          <a:xfrm>
            <a:off x="480118" y="4888928"/>
            <a:ext cx="164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ON/OFF Switch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20CA7F4-8A96-8BC0-CA3D-38EA0ED7C3A9}"/>
              </a:ext>
            </a:extLst>
          </p:cNvPr>
          <p:cNvCxnSpPr/>
          <p:nvPr/>
        </p:nvCxnSpPr>
        <p:spPr bwMode="auto">
          <a:xfrm flipH="1" flipV="1">
            <a:off x="1407533" y="5559425"/>
            <a:ext cx="2460171" cy="315686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46B7603-764A-5599-E91C-CE67A7A71198}"/>
              </a:ext>
            </a:extLst>
          </p:cNvPr>
          <p:cNvSpPr txBox="1"/>
          <p:nvPr/>
        </p:nvSpPr>
        <p:spPr bwMode="auto">
          <a:xfrm>
            <a:off x="281772" y="5583199"/>
            <a:ext cx="1620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Input DC Jack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7A5062-C9B4-A6C2-D863-D6214E5B9C6B}"/>
              </a:ext>
            </a:extLst>
          </p:cNvPr>
          <p:cNvSpPr txBox="1"/>
          <p:nvPr/>
        </p:nvSpPr>
        <p:spPr bwMode="auto">
          <a:xfrm>
            <a:off x="5745958" y="5121677"/>
            <a:ext cx="1411945" cy="1200329"/>
          </a:xfrm>
          <a:prstGeom prst="rect">
            <a:avLst/>
          </a:prstGeom>
          <a:noFill/>
          <a:ln w="28575">
            <a:solidFill>
              <a:srgbClr val="EE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FDAAFD-E90A-2BC1-3F56-8FA473A1E0E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70676" y="5516444"/>
            <a:ext cx="2048246" cy="605678"/>
          </a:xfrm>
          <a:prstGeom prst="straightConnector1">
            <a:avLst/>
          </a:prstGeom>
          <a:ln w="28575"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D01CA8C-28BA-5DBA-89F1-48A6905765DE}"/>
              </a:ext>
            </a:extLst>
          </p:cNvPr>
          <p:cNvSpPr txBox="1"/>
          <p:nvPr/>
        </p:nvSpPr>
        <p:spPr bwMode="auto">
          <a:xfrm>
            <a:off x="8718922" y="5449951"/>
            <a:ext cx="1736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Free Connectors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926-F5FB-6C51-E2D0-30FCC899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06/12/2025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DFBB1-0230-2A13-A887-01777778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3A2A5D-5A42-4533-ACF4-15D55555B360}" type="slidenum">
              <a:rPr lang="en-GB" smtClean="0"/>
              <a:t>3</a:t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electronic board with black and white components&#10;&#10;AI-generated content may be incorrect.">
            <a:extLst>
              <a:ext uri="{FF2B5EF4-FFF2-40B4-BE49-F238E27FC236}">
                <a16:creationId xmlns:a16="http://schemas.microsoft.com/office/drawing/2014/main" id="{740D586E-55B5-5094-D9DB-F1123CC5D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892" y="1109348"/>
            <a:ext cx="5712332" cy="52470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4482F8-1347-DEC5-1ED0-0F6E05E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CFL07 : </a:t>
            </a:r>
            <a:r>
              <a:rPr lang="en-US" b="1" dirty="0">
                <a:solidFill>
                  <a:srgbClr val="FF33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Bluetooth LED Control</a:t>
            </a:r>
            <a:endParaRPr lang="en-GB" b="1" dirty="0">
              <a:solidFill>
                <a:srgbClr val="FF3300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EC62-7BFF-858A-D846-91789E902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1013"/>
            <a:ext cx="10515600" cy="4351338"/>
          </a:xfrm>
        </p:spPr>
        <p:txBody>
          <a:bodyPr/>
          <a:lstStyle/>
          <a:p>
            <a:r>
              <a:rPr lang="en-GB" b="1" dirty="0"/>
              <a:t>Things Needed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CC0CDC-7C73-2B32-1083-BECC3125F8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4852" y="1"/>
            <a:ext cx="3125372" cy="84238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EA5F98B-EA2D-8434-CDBE-E779F35C5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December 2025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10FD22-43DC-BAB4-68F1-1F8924F2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5A6A5-3841-4FBA-B455-67883EB3171A}" type="slidenum">
              <a:rPr lang="en-GB" smtClean="0"/>
              <a:t>4</a:t>
            </a:fld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C91BCE-AFE1-448A-7E5C-FC5FA667DFCC}"/>
              </a:ext>
            </a:extLst>
          </p:cNvPr>
          <p:cNvSpPr txBox="1"/>
          <p:nvPr/>
        </p:nvSpPr>
        <p:spPr bwMode="auto">
          <a:xfrm>
            <a:off x="6695440" y="2055812"/>
            <a:ext cx="2722880" cy="9045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pic>
        <p:nvPicPr>
          <p:cNvPr id="17" name="Picture 16" descr="A black and silver usb cable&#10;&#10;AI-generated content may be incorrect.">
            <a:extLst>
              <a:ext uri="{FF2B5EF4-FFF2-40B4-BE49-F238E27FC236}">
                <a16:creationId xmlns:a16="http://schemas.microsoft.com/office/drawing/2014/main" id="{EDEA0734-B278-0DD5-86F8-89594083F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238" y="2842781"/>
            <a:ext cx="1929544" cy="1903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3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99</Words>
  <Application>Microsoft Office PowerPoint</Application>
  <PresentationFormat>Widescreen</PresentationFormat>
  <Paragraphs>35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Communication Kit (Kit 3)</vt:lpstr>
      <vt:lpstr>Communication Kit : Contents</vt:lpstr>
      <vt:lpstr>Kit 3 Communication Creative Board - Features</vt:lpstr>
      <vt:lpstr>CFL07 : Bluetooth LED Control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39</cp:revision>
  <dcterms:created xsi:type="dcterms:W3CDTF">2025-12-15T19:48:42Z</dcterms:created>
  <dcterms:modified xsi:type="dcterms:W3CDTF">2026-01-02T00:33:35Z</dcterms:modified>
</cp:coreProperties>
</file>