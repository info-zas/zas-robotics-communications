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561" r:id="rId3"/>
    <p:sldId id="260" r:id="rId4"/>
    <p:sldId id="562" r:id="rId5"/>
    <p:sldId id="563" r:id="rId6"/>
    <p:sldId id="564" r:id="rId7"/>
    <p:sldId id="27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64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FEA32-2B8B-4244-A536-214CF6D4B9AB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2CD01-2772-4AF8-9466-73774B5F01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304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29318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4970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37228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464B0B-3CDA-8AFD-A136-AA80755CE963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F5D21-5C4F-8D9E-7FA8-76F7F6342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9D9B3-8F15-A5BD-3712-7E9B6FB9B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73F52-B7DA-A46F-7D47-F3165BA0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DE237-D0A8-8204-0CBC-116E52403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27FEF-679B-858D-946F-54A02B4B3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511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8531-151F-744E-6E6B-6289ADDEA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0542F-505E-8990-FA6A-1C0926767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A6E7E-6DE9-2DCD-CEB7-C34692D5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BB5AF-1A83-E4B7-F215-3322543FD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F16BA-8086-5B54-3073-62329D1BE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376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BA0FE-A8AD-7D8B-D9AF-32BE2DF4B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975F9-423B-F4B0-21FD-AD9E59190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39C2A-A532-6A07-D74B-DFA878339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FF95C-1489-D66D-17EE-7E7F4BDE4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C3CEA-0A0C-F0E0-2382-FE3CFFA3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8355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FA62B-3196-810C-25DA-867E58E40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79251-ADB9-564F-A0E8-4544B5DD25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338357-F991-916E-F55E-D33B3B558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B712E3-C5C9-A553-608F-F6617A9BB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2906B-4867-30DD-0DCE-BC37F1AC1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06FF6-B6C3-3F5B-617C-092C9CEB5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601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8C197-A54D-0BC2-1361-071D144C8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F5B1B-2A95-BC89-83B7-73DDD9787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E93C43-1D8D-B03E-ADF5-E8FE0B295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8C70AF-659D-A939-1A82-B4EBD7B84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439A98-65A3-3CF5-AD07-9AAC8288E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B3538-91A6-D119-5D4B-7FBF59B24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2852D7-8ADE-231B-1748-76E481455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06E61-8A9B-EA2A-EAAD-0B862C76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23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C9240-87DD-5F4C-0863-5DA6FB53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9AC3C-F8C1-59A1-4915-364581564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929AB9-B5FC-420A-E844-DE2DCB4C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27500-6C83-17A4-C2D6-31B648FE9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66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C8079-13FD-8590-4D92-1477F029B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FC357A-F34C-E06D-7085-97B89AD66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67FF8-8244-9FD5-7677-5BF0C2928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4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0662F-416B-A35F-03C2-53DFA6DCD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53E01-08C9-C606-714F-14B984E64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283E3-BEF2-0983-B542-9CC494C8B2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192B0-8202-50EF-4F30-CD86E593F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81173-902E-BB87-52CA-02814A42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3DABF-C3FB-6892-42E2-3042028ED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968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37CE-6997-2F94-6AB8-28894A468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E253F0-61CB-494C-9AE2-75D4D6A8E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BB420-64D6-A41D-342E-50D18D8B7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583DC-D3BC-F8A0-CAF3-53E862AAF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07A1B-67EC-2703-4322-26748FC73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4383E-78FC-B5FE-595F-0448B665D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7072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044FA-6991-3534-22D7-EFD58AC24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5CF4C-1405-BFA5-0A04-5D82CB2AD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35254-5C3A-03C6-2789-A03722906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F644E-9AE7-6B98-3779-AD44811EB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D016E-072A-A391-875E-41D05145A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882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5F21B1-1D8F-7580-A9B7-CF11AB94CE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3E446-2D02-E169-F4CE-59F4A64FF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AA05B-0406-D755-E324-32CBD4898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4BF43-763C-F446-1231-1FB6CB83D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38E66-0A51-C30E-742E-1C95BDC83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366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67EBAD-5A44-D508-FACE-3A970FC0D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969B6-7349-041D-7E62-61E137625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9CF7F-72A8-368D-2FDD-B58429DC1C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BB911-5ECA-16CF-A969-6C2522606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4F58A-1703-F328-A5DA-1551CB2F4B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971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fo-zas/zas-robotics-communications/blob/main/01_FoundationProjects/CFL13_Hybrid_Communication_IR_NRF/CFL13_Hybrid_Communication_IR_NRF_Rx/CFL13_Hybrid_Communication_IR_NRF_Rx.ino" TargetMode="External"/><Relationship Id="rId2" Type="http://schemas.openxmlformats.org/officeDocument/2006/relationships/hyperlink" Target="https://github.com/info-zas/zas-robotics-communications/blob/main/01_FoundationProjects/CFL13_Hybrid_Communication_IR_NRF/CFL13_Hybrid_Communication_IR_NRF_Tx/CFL13_Hybrid_Communication_IR_NRF_Tx.ino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Kit (Kit 3)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0416" y="3688774"/>
            <a:ext cx="10351168" cy="1655762"/>
          </a:xfrm>
        </p:spPr>
        <p:txBody>
          <a:bodyPr>
            <a:normAutofit fontScale="92500" lnSpcReduction="1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Communication Foundation Lessons (CFL)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CFL02)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CFL13: Hybrid Relay (IR-NRF) Communication</a:t>
            </a:r>
            <a:endParaRPr lang="en-GB" sz="3600" b="1" dirty="0">
              <a:solidFill>
                <a:srgbClr val="7030A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8E9294-41F4-4FD5-344C-22E11DE3E5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F8A61-A0DD-1E95-4A27-EF5FD8DC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D94DA-C92E-EFF6-9BB4-6FD6B1B5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Kit : Contents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AC25C5-432E-8472-0A6B-B89408892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8479" y="1380661"/>
            <a:ext cx="5847522" cy="43609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4EC2A0-8833-DC11-D0B9-6B849F16D6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66508" y="1477756"/>
            <a:ext cx="4197264" cy="4263887"/>
          </a:xfrm>
          <a:prstGeom prst="rect">
            <a:avLst/>
          </a:prstGeom>
        </p:spPr>
      </p:pic>
      <p:sp>
        <p:nvSpPr>
          <p:cNvPr id="8" name="TextBox 45">
            <a:extLst>
              <a:ext uri="{FF2B5EF4-FFF2-40B4-BE49-F238E27FC236}">
                <a16:creationId xmlns:a16="http://schemas.microsoft.com/office/drawing/2014/main" id="{8DC5E389-0D5A-F470-2189-C2FF3449BF66}"/>
              </a:ext>
            </a:extLst>
          </p:cNvPr>
          <p:cNvSpPr txBox="1"/>
          <p:nvPr/>
        </p:nvSpPr>
        <p:spPr bwMode="auto">
          <a:xfrm>
            <a:off x="1530469" y="5933742"/>
            <a:ext cx="3260408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 dirty="0"/>
              <a:t>Communication</a:t>
            </a:r>
            <a:r>
              <a:rPr lang="en-GB" b="1" dirty="0"/>
              <a:t> Kit Components</a:t>
            </a:r>
            <a:endParaRPr dirty="0"/>
          </a:p>
        </p:txBody>
      </p:sp>
      <p:sp>
        <p:nvSpPr>
          <p:cNvPr id="9" name="TextBox 20">
            <a:extLst>
              <a:ext uri="{FF2B5EF4-FFF2-40B4-BE49-F238E27FC236}">
                <a16:creationId xmlns:a16="http://schemas.microsoft.com/office/drawing/2014/main" id="{2EF83828-E71C-4BA2-4142-04C145376EDA}"/>
              </a:ext>
            </a:extLst>
          </p:cNvPr>
          <p:cNvSpPr txBox="1"/>
          <p:nvPr/>
        </p:nvSpPr>
        <p:spPr bwMode="auto">
          <a:xfrm>
            <a:off x="7589967" y="5933741"/>
            <a:ext cx="3150347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800" b="1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Communication</a:t>
            </a:r>
            <a:r>
              <a:rPr lang="en-GB" b="1" dirty="0"/>
              <a:t> Creative Board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047694" name="Title 1"/>
          <p:cNvSpPr>
            <a:spLocks noGrp="1"/>
          </p:cNvSpPr>
          <p:nvPr>
            <p:ph type="title"/>
          </p:nvPr>
        </p:nvSpPr>
        <p:spPr bwMode="auto"/>
        <p:txBody>
          <a:bodyPr vert="horz" lIns="91440" tIns="45720" rIns="91440" bIns="45720" rtlCol="0" anchor="ctr">
            <a:normAutofit/>
          </a:bodyPr>
          <a:lstStyle/>
          <a:p>
            <a:pPr rtl="0">
              <a:spcBef>
                <a:spcPct val="0"/>
              </a:spcBef>
            </a:pP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Kit </a:t>
            </a:r>
            <a:r>
              <a:rPr lang="en-US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</a:t>
            </a: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</a:t>
            </a: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Creative Board - Features</a:t>
            </a:r>
            <a:endParaRPr b="1" kern="1200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DF7B30-4988-34F3-4821-794FB38B04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48464" y="1770208"/>
            <a:ext cx="4862629" cy="4939814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E2975DB-E2B1-3D15-2A22-93E1C92B221A}"/>
              </a:ext>
            </a:extLst>
          </p:cNvPr>
          <p:cNvCxnSpPr/>
          <p:nvPr/>
        </p:nvCxnSpPr>
        <p:spPr>
          <a:xfrm flipH="1" flipV="1">
            <a:off x="1926772" y="256358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9ACF50-60B2-A66B-FC8F-F5E0E708EEC5}"/>
              </a:ext>
            </a:extLst>
          </p:cNvPr>
          <p:cNvCxnSpPr>
            <a:cxnSpLocks/>
          </p:cNvCxnSpPr>
          <p:nvPr/>
        </p:nvCxnSpPr>
        <p:spPr bwMode="auto">
          <a:xfrm flipV="1">
            <a:off x="6889587" y="1715780"/>
            <a:ext cx="2743198" cy="783772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216B88E-0D01-A116-9F44-7020C7D75BA1}"/>
              </a:ext>
            </a:extLst>
          </p:cNvPr>
          <p:cNvSpPr txBox="1"/>
          <p:nvPr/>
        </p:nvSpPr>
        <p:spPr>
          <a:xfrm>
            <a:off x="9632785" y="1545782"/>
            <a:ext cx="1765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LoRa Module I/F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D9C85B-50AB-D7BD-3A53-E563397E2A5B}"/>
              </a:ext>
            </a:extLst>
          </p:cNvPr>
          <p:cNvSpPr txBox="1"/>
          <p:nvPr/>
        </p:nvSpPr>
        <p:spPr bwMode="auto">
          <a:xfrm>
            <a:off x="1138883" y="2314886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ESP32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90B6FB5-6A3E-F498-3D69-7A1FBABE0E26}"/>
              </a:ext>
            </a:extLst>
          </p:cNvPr>
          <p:cNvCxnSpPr>
            <a:cxnSpLocks/>
          </p:cNvCxnSpPr>
          <p:nvPr/>
        </p:nvCxnSpPr>
        <p:spPr bwMode="auto">
          <a:xfrm flipV="1">
            <a:off x="7052872" y="2867182"/>
            <a:ext cx="2743198" cy="783772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216E2B2-A493-5878-80CF-CE572B548F57}"/>
              </a:ext>
            </a:extLst>
          </p:cNvPr>
          <p:cNvSpPr txBox="1"/>
          <p:nvPr/>
        </p:nvSpPr>
        <p:spPr bwMode="auto">
          <a:xfrm>
            <a:off x="9796070" y="2602966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OLED I/F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62CEF49-9565-4353-6CE3-BA57A4A8A906}"/>
              </a:ext>
            </a:extLst>
          </p:cNvPr>
          <p:cNvCxnSpPr>
            <a:cxnSpLocks/>
          </p:cNvCxnSpPr>
          <p:nvPr/>
        </p:nvCxnSpPr>
        <p:spPr bwMode="auto">
          <a:xfrm flipV="1">
            <a:off x="7805059" y="2282744"/>
            <a:ext cx="1827726" cy="50488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1919051-7F1C-8A10-D296-E6155E7B5D94}"/>
              </a:ext>
            </a:extLst>
          </p:cNvPr>
          <p:cNvSpPr txBox="1"/>
          <p:nvPr/>
        </p:nvSpPr>
        <p:spPr bwMode="auto">
          <a:xfrm>
            <a:off x="9796070" y="2080662"/>
            <a:ext cx="2254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NRF24L01 Module I/F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0580061-4FAC-8D17-0DE4-3134E6A611BC}"/>
              </a:ext>
            </a:extLst>
          </p:cNvPr>
          <p:cNvCxnSpPr>
            <a:cxnSpLocks/>
          </p:cNvCxnSpPr>
          <p:nvPr/>
        </p:nvCxnSpPr>
        <p:spPr bwMode="auto">
          <a:xfrm flipV="1">
            <a:off x="7747824" y="3204820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94428AD-8C9E-E2A3-3189-B1017094D23C}"/>
              </a:ext>
            </a:extLst>
          </p:cNvPr>
          <p:cNvSpPr txBox="1"/>
          <p:nvPr/>
        </p:nvSpPr>
        <p:spPr bwMode="auto">
          <a:xfrm>
            <a:off x="9836806" y="3020154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RFID I/F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CFD017-CCC8-D2EB-DDC1-894905A78198}"/>
              </a:ext>
            </a:extLst>
          </p:cNvPr>
          <p:cNvSpPr txBox="1"/>
          <p:nvPr/>
        </p:nvSpPr>
        <p:spPr bwMode="auto">
          <a:xfrm>
            <a:off x="9796070" y="3828362"/>
            <a:ext cx="204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SD Card Module I/F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0C8FE61-FD6C-0251-47A8-5B268CC5CFB3}"/>
              </a:ext>
            </a:extLst>
          </p:cNvPr>
          <p:cNvCxnSpPr>
            <a:cxnSpLocks/>
          </p:cNvCxnSpPr>
          <p:nvPr/>
        </p:nvCxnSpPr>
        <p:spPr bwMode="auto">
          <a:xfrm flipV="1">
            <a:off x="7788560" y="4013028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2509D3B-F2A5-6016-8A59-13465887E570}"/>
              </a:ext>
            </a:extLst>
          </p:cNvPr>
          <p:cNvCxnSpPr>
            <a:cxnSpLocks/>
          </p:cNvCxnSpPr>
          <p:nvPr/>
        </p:nvCxnSpPr>
        <p:spPr bwMode="auto">
          <a:xfrm flipV="1">
            <a:off x="7505531" y="4877649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3AE2AE8-70F6-913F-6DCD-D962B47AFA30}"/>
              </a:ext>
            </a:extLst>
          </p:cNvPr>
          <p:cNvSpPr txBox="1"/>
          <p:nvPr/>
        </p:nvSpPr>
        <p:spPr bwMode="auto">
          <a:xfrm>
            <a:off x="9569305" y="4672756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Rotary Encoder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343405-0070-F525-C73F-F07ECAD76F7D}"/>
              </a:ext>
            </a:extLst>
          </p:cNvPr>
          <p:cNvSpPr txBox="1"/>
          <p:nvPr/>
        </p:nvSpPr>
        <p:spPr>
          <a:xfrm>
            <a:off x="4463143" y="4315867"/>
            <a:ext cx="707571" cy="726221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A15369F-B29C-6924-07C9-C31A2585E0C5}"/>
              </a:ext>
            </a:extLst>
          </p:cNvPr>
          <p:cNvCxnSpPr/>
          <p:nvPr/>
        </p:nvCxnSpPr>
        <p:spPr bwMode="auto">
          <a:xfrm flipH="1" flipV="1">
            <a:off x="2191304" y="411517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0043822-8E50-C62F-D0E4-CD19BCC50FC3}"/>
              </a:ext>
            </a:extLst>
          </p:cNvPr>
          <p:cNvSpPr txBox="1"/>
          <p:nvPr/>
        </p:nvSpPr>
        <p:spPr bwMode="auto">
          <a:xfrm>
            <a:off x="887406" y="3596956"/>
            <a:ext cx="13147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Mini</a:t>
            </a:r>
          </a:p>
          <a:p>
            <a:pPr algn="ctr"/>
            <a:r>
              <a:rPr lang="en-GB" b="1" dirty="0"/>
              <a:t>Breadboard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E97AFC-F411-8FFF-717B-A4A33D748FB9}"/>
              </a:ext>
            </a:extLst>
          </p:cNvPr>
          <p:cNvSpPr txBox="1"/>
          <p:nvPr/>
        </p:nvSpPr>
        <p:spPr bwMode="auto">
          <a:xfrm>
            <a:off x="3642020" y="4527306"/>
            <a:ext cx="678146" cy="396584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D531BEF-BB1B-33A5-AC2E-71E18688C7F8}"/>
              </a:ext>
            </a:extLst>
          </p:cNvPr>
          <p:cNvCxnSpPr/>
          <p:nvPr/>
        </p:nvCxnSpPr>
        <p:spPr bwMode="auto">
          <a:xfrm flipH="1" flipV="1">
            <a:off x="1520922" y="452730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6A88AC0-52C9-901F-BD11-0D31687167C9}"/>
              </a:ext>
            </a:extLst>
          </p:cNvPr>
          <p:cNvSpPr txBox="1"/>
          <p:nvPr/>
        </p:nvSpPr>
        <p:spPr bwMode="auto">
          <a:xfrm>
            <a:off x="607977" y="4240115"/>
            <a:ext cx="11737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Power</a:t>
            </a:r>
          </a:p>
          <a:p>
            <a:pPr algn="ctr"/>
            <a:r>
              <a:rPr lang="en-GB" b="1" dirty="0"/>
              <a:t>Connector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7764177-32CC-5E45-BB56-1E60B7CADDDA}"/>
              </a:ext>
            </a:extLst>
          </p:cNvPr>
          <p:cNvCxnSpPr/>
          <p:nvPr/>
        </p:nvCxnSpPr>
        <p:spPr bwMode="auto">
          <a:xfrm flipH="1" flipV="1">
            <a:off x="2065649" y="5066397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EBCEB09-33EF-81ED-FC57-64EE766E183B}"/>
              </a:ext>
            </a:extLst>
          </p:cNvPr>
          <p:cNvSpPr txBox="1"/>
          <p:nvPr/>
        </p:nvSpPr>
        <p:spPr bwMode="auto">
          <a:xfrm>
            <a:off x="480118" y="4888928"/>
            <a:ext cx="1648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ON/OFF Switch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20CA7F4-8A96-8BC0-CA3D-38EA0ED7C3A9}"/>
              </a:ext>
            </a:extLst>
          </p:cNvPr>
          <p:cNvCxnSpPr/>
          <p:nvPr/>
        </p:nvCxnSpPr>
        <p:spPr bwMode="auto">
          <a:xfrm flipH="1" flipV="1">
            <a:off x="1407533" y="5559425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46B7603-764A-5599-E91C-CE67A7A71198}"/>
              </a:ext>
            </a:extLst>
          </p:cNvPr>
          <p:cNvSpPr txBox="1"/>
          <p:nvPr/>
        </p:nvSpPr>
        <p:spPr bwMode="auto">
          <a:xfrm>
            <a:off x="281772" y="5583199"/>
            <a:ext cx="1620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Input DC Jack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7A5062-C9B4-A6C2-D863-D6214E5B9C6B}"/>
              </a:ext>
            </a:extLst>
          </p:cNvPr>
          <p:cNvSpPr txBox="1"/>
          <p:nvPr/>
        </p:nvSpPr>
        <p:spPr bwMode="auto">
          <a:xfrm>
            <a:off x="5745958" y="5121677"/>
            <a:ext cx="1411945" cy="1200329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4FDAAFD-E90A-2BC1-3F56-8FA473A1E0EC}"/>
              </a:ext>
            </a:extLst>
          </p:cNvPr>
          <p:cNvCxnSpPr>
            <a:cxnSpLocks/>
          </p:cNvCxnSpPr>
          <p:nvPr/>
        </p:nvCxnSpPr>
        <p:spPr bwMode="auto">
          <a:xfrm flipV="1">
            <a:off x="6670676" y="5516444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D01CA8C-28BA-5DBA-89F1-48A6905765DE}"/>
              </a:ext>
            </a:extLst>
          </p:cNvPr>
          <p:cNvSpPr txBox="1"/>
          <p:nvPr/>
        </p:nvSpPr>
        <p:spPr bwMode="auto">
          <a:xfrm>
            <a:off x="8718922" y="5449951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Free Connectors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926-F5FB-6C51-E2D0-30FCC8993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DFBB1-0230-2A13-A887-01777778E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3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FDB0D3-78AC-0392-36EE-B70C8DCB4A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electronic board with black and white components&#10;&#10;AI-generated content may be incorrect.">
            <a:extLst>
              <a:ext uri="{FF2B5EF4-FFF2-40B4-BE49-F238E27FC236}">
                <a16:creationId xmlns:a16="http://schemas.microsoft.com/office/drawing/2014/main" id="{740D586E-55B5-5094-D9DB-F1123CC5D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4388" y="3200400"/>
            <a:ext cx="3435835" cy="31559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4482F8-1347-DEC5-1ED0-0F6E05EEA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4000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4000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CFL13: Hybrid Relay (IR-NRF) Communication</a:t>
            </a:r>
            <a:br>
              <a:rPr lang="en-GB" sz="4000" b="1" dirty="0">
                <a:solidFill>
                  <a:srgbClr val="7030A0"/>
                </a:solidFill>
              </a:rPr>
            </a:br>
            <a:endParaRPr lang="en-GB" sz="4000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2EC62-7BFF-858A-D846-91789E902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1013"/>
            <a:ext cx="10515600" cy="4351338"/>
          </a:xfrm>
        </p:spPr>
        <p:txBody>
          <a:bodyPr/>
          <a:lstStyle/>
          <a:p>
            <a:r>
              <a:rPr lang="en-GB" b="1" dirty="0"/>
              <a:t>Things Needed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CC0CDC-7C73-2B32-1083-BECC3125F8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EA5F98B-EA2D-8434-CDBE-E779F35C5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810FD22-43DC-BAB4-68F1-1F8924F24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4</a:t>
            </a:fld>
            <a:endParaRPr lang="en-GB"/>
          </a:p>
        </p:txBody>
      </p:sp>
      <p:pic>
        <p:nvPicPr>
          <p:cNvPr id="17" name="Picture 16" descr="A black and silver usb cable&#10;&#10;AI-generated content may be incorrect.">
            <a:extLst>
              <a:ext uri="{FF2B5EF4-FFF2-40B4-BE49-F238E27FC236}">
                <a16:creationId xmlns:a16="http://schemas.microsoft.com/office/drawing/2014/main" id="{EDEA0734-B278-0DD5-86F8-89594083F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0862" y="5011792"/>
            <a:ext cx="1295951" cy="1278398"/>
          </a:xfrm>
          <a:prstGeom prst="rect">
            <a:avLst/>
          </a:prstGeom>
        </p:spPr>
      </p:pic>
      <p:pic>
        <p:nvPicPr>
          <p:cNvPr id="6" name="Picture 5" descr="A blue electronic board with black and white components&#10;&#10;AI-generated content may be incorrect.">
            <a:extLst>
              <a:ext uri="{FF2B5EF4-FFF2-40B4-BE49-F238E27FC236}">
                <a16:creationId xmlns:a16="http://schemas.microsoft.com/office/drawing/2014/main" id="{D321BE0E-850B-DA08-7A4D-3D7C44E6F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589" y="3389035"/>
            <a:ext cx="3435835" cy="3155950"/>
          </a:xfrm>
          <a:prstGeom prst="rect">
            <a:avLst/>
          </a:prstGeom>
        </p:spPr>
      </p:pic>
      <p:sp>
        <p:nvSpPr>
          <p:cNvPr id="7" name="Slide Number Placeholder 10">
            <a:extLst>
              <a:ext uri="{FF2B5EF4-FFF2-40B4-BE49-F238E27FC236}">
                <a16:creationId xmlns:a16="http://schemas.microsoft.com/office/drawing/2014/main" id="{A058AC05-157D-D0B6-D4A2-36B88D177A48}"/>
              </a:ext>
            </a:extLst>
          </p:cNvPr>
          <p:cNvSpPr txBox="1">
            <a:spLocks/>
          </p:cNvSpPr>
          <p:nvPr/>
        </p:nvSpPr>
        <p:spPr>
          <a:xfrm>
            <a:off x="2706171" y="84198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1F5A6A5-3841-4FBA-B455-67883EB3171A}" type="slidenum">
              <a:rPr lang="en-GB" smtClean="0"/>
              <a:pPr/>
              <a:t>4</a:t>
            </a:fld>
            <a:endParaRPr lang="en-GB"/>
          </a:p>
        </p:txBody>
      </p:sp>
      <p:pic>
        <p:nvPicPr>
          <p:cNvPr id="10" name="Picture 9" descr="A black and silver usb cable&#10;&#10;AI-generated content may be incorrect.">
            <a:extLst>
              <a:ext uri="{FF2B5EF4-FFF2-40B4-BE49-F238E27FC236}">
                <a16:creationId xmlns:a16="http://schemas.microsoft.com/office/drawing/2014/main" id="{8E0F1F09-D256-CC2C-5A02-49D6721448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933" y="4870173"/>
            <a:ext cx="1583078" cy="1561637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D7D4A98-ACC2-B9D1-3EE7-6FC9219D2261}"/>
              </a:ext>
            </a:extLst>
          </p:cNvPr>
          <p:cNvCxnSpPr/>
          <p:nvPr/>
        </p:nvCxnSpPr>
        <p:spPr>
          <a:xfrm>
            <a:off x="6758609" y="2186609"/>
            <a:ext cx="0" cy="435230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745396D-402D-442A-5D39-C95B1B2C86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628160" y="2597926"/>
            <a:ext cx="1535742" cy="12292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A369813-8E98-3D9D-3999-0C993CD99B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6810016" y="2585781"/>
            <a:ext cx="1535742" cy="122923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BE3A674-DEBD-8BDB-44C6-98ABF8A620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469372"/>
            <a:ext cx="1463167" cy="253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021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466E8-74E8-9C28-F3A0-2A332BA21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CFL13: Hybrid Relay (IR-NRF) Communication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B9BC1-BF7F-A18D-CF85-6FCC95C67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132577-EDD5-48D2-7D25-B714391C2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5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C8AFAC-3C02-C178-8FB2-2E669EAA60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257233" y="-39787"/>
            <a:ext cx="3311469" cy="79794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59B9AB5-72D5-F8A5-7A08-86D9A26CA5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068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03C0B-2076-9B59-5EA2-7D2BFAFAB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CFL13: Hybrid Relay (IR-NRF) Communication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0A586-A2D1-A269-407A-F1A7CBB53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4AD659-86D4-4EE8-A6E3-FC6570756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6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D6577C-BA03-042C-1AB2-BD74428A4D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691" y="1450258"/>
            <a:ext cx="3482309" cy="52712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547A82-5864-5A31-E7A8-C537EF556C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817589" y="2400198"/>
            <a:ext cx="4729168" cy="4321277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EDF6A906-0D9B-CADC-0E53-334B27868FF5}"/>
              </a:ext>
            </a:extLst>
          </p:cNvPr>
          <p:cNvSpPr/>
          <p:nvPr/>
        </p:nvSpPr>
        <p:spPr>
          <a:xfrm rot="16200000">
            <a:off x="1675836" y="4361170"/>
            <a:ext cx="435222" cy="18828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9EF6941D-5EA6-DC1B-28D5-7E803AE4656C}"/>
              </a:ext>
            </a:extLst>
          </p:cNvPr>
          <p:cNvCxnSpPr/>
          <p:nvPr/>
        </p:nvCxnSpPr>
        <p:spPr>
          <a:xfrm>
            <a:off x="3893574" y="4866968"/>
            <a:ext cx="2202426" cy="1081548"/>
          </a:xfrm>
          <a:prstGeom prst="bentConnector3">
            <a:avLst>
              <a:gd name="adj1" fmla="val 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A864B19-6430-E2F3-BE44-B2AFD6025D3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060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45F10B-3A87-FBBB-EC62-8D1B74307863}"/>
              </a:ext>
            </a:extLst>
          </p:cNvPr>
          <p:cNvSpPr txBox="1">
            <a:spLocks/>
          </p:cNvSpPr>
          <p:nvPr/>
        </p:nvSpPr>
        <p:spPr bwMode="auto"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1">
              <a:lnSpc>
                <a:spcPct val="90000"/>
              </a:lnSpc>
              <a:defRPr/>
            </a:pPr>
            <a:r>
              <a:rPr lang="en-US" sz="4000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CFL13: Hybrid Relay (IR-NRF) Communication</a:t>
            </a:r>
            <a:endParaRPr lang="en-GB" sz="4000" b="1" dirty="0">
              <a:solidFill>
                <a:srgbClr val="FF3300"/>
              </a:solidFill>
              <a:latin typeface="+mj-lt"/>
              <a:ea typeface="Calibri Light"/>
              <a:cs typeface="Calibri Light"/>
            </a:endParaRP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2231A43-5A91-F588-DDD7-DED9CA85C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04E2236-3CA4-9CDB-C0D7-D24B88484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7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FBA007-33A3-92A8-1006-15CBC27120A3}"/>
              </a:ext>
            </a:extLst>
          </p:cNvPr>
          <p:cNvSpPr txBox="1"/>
          <p:nvPr/>
        </p:nvSpPr>
        <p:spPr>
          <a:xfrm>
            <a:off x="1140542" y="2041322"/>
            <a:ext cx="4149213" cy="181588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GB" sz="1400" dirty="0"/>
              <a:t>setup()</a:t>
            </a:r>
          </a:p>
          <a:p>
            <a:r>
              <a:rPr lang="en-GB" sz="1400" dirty="0"/>
              <a:t>    • Initialize Serial communication</a:t>
            </a:r>
          </a:p>
          <a:p>
            <a:r>
              <a:rPr lang="en-GB" sz="1400" dirty="0"/>
              <a:t>    • Initialize OLED display and show “IR + </a:t>
            </a:r>
            <a:r>
              <a:rPr lang="en-GB" sz="1400" dirty="0" err="1"/>
              <a:t>nRF</a:t>
            </a:r>
            <a:r>
              <a:rPr lang="en-GB" sz="1400" dirty="0"/>
              <a:t> Sender”</a:t>
            </a:r>
          </a:p>
          <a:p>
            <a:r>
              <a:rPr lang="en-GB" sz="1400" dirty="0"/>
              <a:t>    • Start IR receiver on pin 34</a:t>
            </a:r>
          </a:p>
          <a:p>
            <a:r>
              <a:rPr lang="en-GB" sz="1400" dirty="0"/>
              <a:t>    • Configure nRF24L01 radio:</a:t>
            </a:r>
          </a:p>
          <a:p>
            <a:r>
              <a:rPr lang="en-GB" sz="1400" dirty="0"/>
              <a:t>          - Set power level, channel, data rate</a:t>
            </a:r>
          </a:p>
          <a:p>
            <a:r>
              <a:rPr lang="en-GB" sz="1400" dirty="0"/>
              <a:t>          - Open writing pipe</a:t>
            </a:r>
          </a:p>
          <a:p>
            <a:r>
              <a:rPr lang="en-GB" sz="1400" dirty="0"/>
              <a:t>          - Set radio to transmit mode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F81B66-746E-600A-16B9-663373484C1C}"/>
              </a:ext>
            </a:extLst>
          </p:cNvPr>
          <p:cNvSpPr txBox="1"/>
          <p:nvPr/>
        </p:nvSpPr>
        <p:spPr>
          <a:xfrm>
            <a:off x="1140541" y="3855383"/>
            <a:ext cx="4149213" cy="1600438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r>
              <a:rPr lang="en-GB" dirty="0"/>
              <a:t>loop()</a:t>
            </a:r>
          </a:p>
          <a:p>
            <a:r>
              <a:rPr lang="en-GB" dirty="0"/>
              <a:t>    • Check if an IR signal is received</a:t>
            </a:r>
          </a:p>
          <a:p>
            <a:r>
              <a:rPr lang="en-GB" dirty="0"/>
              <a:t>    • Read the IR command byte (0–255)</a:t>
            </a:r>
          </a:p>
          <a:p>
            <a:r>
              <a:rPr lang="en-GB" dirty="0"/>
              <a:t>    • Print IR code in HEX on Serial Monitor</a:t>
            </a:r>
          </a:p>
          <a:p>
            <a:r>
              <a:rPr lang="en-GB" dirty="0"/>
              <a:t>    • Display IR code on OLED</a:t>
            </a:r>
          </a:p>
          <a:p>
            <a:r>
              <a:rPr lang="en-GB" dirty="0"/>
              <a:t>    • Transmit the IR code via nRF24L01</a:t>
            </a:r>
          </a:p>
          <a:p>
            <a:r>
              <a:rPr lang="en-GB" dirty="0"/>
              <a:t>    • Resume IR receiver for next command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0C04DA-8306-4D95-6E4E-2F8E9153CAED}"/>
              </a:ext>
            </a:extLst>
          </p:cNvPr>
          <p:cNvSpPr txBox="1"/>
          <p:nvPr/>
        </p:nvSpPr>
        <p:spPr>
          <a:xfrm>
            <a:off x="6779345" y="1726127"/>
            <a:ext cx="4446639" cy="1600438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r>
              <a:rPr lang="en-GB" dirty="0"/>
              <a:t>setup()</a:t>
            </a:r>
          </a:p>
          <a:p>
            <a:r>
              <a:rPr lang="en-GB" dirty="0"/>
              <a:t>    • Start Serial communication</a:t>
            </a:r>
          </a:p>
          <a:p>
            <a:r>
              <a:rPr lang="en-GB" dirty="0"/>
              <a:t>    • Initialize OLED display and show “nRF24 Receiver”</a:t>
            </a:r>
          </a:p>
          <a:p>
            <a:r>
              <a:rPr lang="en-GB" dirty="0"/>
              <a:t>    • Initialize nRF24L01 radio:</a:t>
            </a:r>
          </a:p>
          <a:p>
            <a:r>
              <a:rPr lang="en-GB" dirty="0"/>
              <a:t>          - Set power level, channel, data rate</a:t>
            </a:r>
          </a:p>
          <a:p>
            <a:r>
              <a:rPr lang="en-GB" dirty="0"/>
              <a:t>          - Open reading pipe with the same address as sender</a:t>
            </a:r>
          </a:p>
          <a:p>
            <a:r>
              <a:rPr lang="en-GB" dirty="0"/>
              <a:t>          - Start listening mode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8E92F4-0BEA-BBAB-5011-93807E418F84}"/>
              </a:ext>
            </a:extLst>
          </p:cNvPr>
          <p:cNvSpPr txBox="1"/>
          <p:nvPr/>
        </p:nvSpPr>
        <p:spPr>
          <a:xfrm>
            <a:off x="6779344" y="3326565"/>
            <a:ext cx="4446640" cy="1169551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r>
              <a:rPr lang="en-GB" dirty="0"/>
              <a:t>loop()</a:t>
            </a:r>
          </a:p>
          <a:p>
            <a:r>
              <a:rPr lang="en-GB" dirty="0"/>
              <a:t>    • Check if a wireless packet is available</a:t>
            </a:r>
          </a:p>
          <a:p>
            <a:r>
              <a:rPr lang="en-GB" dirty="0"/>
              <a:t>    • Read the received IR code (1 byte)</a:t>
            </a:r>
          </a:p>
          <a:p>
            <a:r>
              <a:rPr lang="en-GB" dirty="0"/>
              <a:t>    • Print the HEX value on Serial Monitor</a:t>
            </a:r>
          </a:p>
          <a:p>
            <a:r>
              <a:rPr lang="en-GB" dirty="0"/>
              <a:t>    • Display the IR code in large text on the OLED screen</a:t>
            </a: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96FD01B0-C495-7911-0923-F129D53A0EA5}"/>
              </a:ext>
            </a:extLst>
          </p:cNvPr>
          <p:cNvSpPr txBox="1"/>
          <p:nvPr/>
        </p:nvSpPr>
        <p:spPr bwMode="auto">
          <a:xfrm>
            <a:off x="5904992" y="4549676"/>
            <a:ext cx="5146467" cy="2308324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200" b="1" dirty="0"/>
              <a:t>Code for Lesson CFL13 (CFL13_Hybrid_Communication_IR_NRF_Tx.ino)</a:t>
            </a:r>
          </a:p>
          <a:p>
            <a:pPr>
              <a:defRPr/>
            </a:pPr>
            <a:r>
              <a:rPr lang="en-US" sz="1200" b="1" dirty="0"/>
              <a:t>(CFL13_Hybrid_Communication_IR_NRF_Rx.ino)</a:t>
            </a:r>
          </a:p>
          <a:p>
            <a:pPr>
              <a:defRPr/>
            </a:pPr>
            <a:r>
              <a:rPr lang="en-GB" sz="1200" b="1" dirty="0">
                <a:hlinkClick r:id="rId2"/>
              </a:rPr>
              <a:t>https://github.com/info-zas/zas-robotics-communications/blob/main/01_FoundationProjects/CFL13_Hybrid_Communication_IR_NRF/CFL13_Hybrid_Communication_IR_NRF_Tx/CFL13_Hybrid_Communication_IR_NRF_Tx.ino</a:t>
            </a:r>
            <a:endParaRPr lang="en-GB" sz="1200" b="1" dirty="0"/>
          </a:p>
          <a:p>
            <a:pPr>
              <a:defRPr/>
            </a:pPr>
            <a:endParaRPr lang="en-GB" sz="1200" b="1" dirty="0"/>
          </a:p>
          <a:p>
            <a:pPr>
              <a:defRPr/>
            </a:pPr>
            <a:r>
              <a:rPr lang="en-GB" sz="1200" b="1" dirty="0">
                <a:hlinkClick r:id="rId3"/>
              </a:rPr>
              <a:t>https://github.com/info-zas/zas-robotics-communications/blob/main/01_FoundationProjects/CFL13_Hybrid_Communication_IR_NRF/CFL13_Hybrid_Communication_IR_NRF_Rx/CFL13_Hybrid_Communication_IR_NRF_Rx.ino</a:t>
            </a:r>
            <a:endParaRPr lang="en-GB" sz="1200" b="1" dirty="0"/>
          </a:p>
          <a:p>
            <a:pPr>
              <a:defRPr/>
            </a:pPr>
            <a:endParaRPr lang="en-GB" sz="12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214481-8723-C8D9-13D8-4A510E8CDC08}"/>
              </a:ext>
            </a:extLst>
          </p:cNvPr>
          <p:cNvSpPr txBox="1"/>
          <p:nvPr/>
        </p:nvSpPr>
        <p:spPr>
          <a:xfrm>
            <a:off x="2395330" y="1739348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Transmitter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1D2FE7-463D-3354-AA85-068FF0585C50}"/>
              </a:ext>
            </a:extLst>
          </p:cNvPr>
          <p:cNvSpPr txBox="1"/>
          <p:nvPr/>
        </p:nvSpPr>
        <p:spPr>
          <a:xfrm>
            <a:off x="8222972" y="1414206"/>
            <a:ext cx="998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Receiver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1EF5B4F1-799B-F511-B903-321F022ABD3B}"/>
              </a:ext>
            </a:extLst>
          </p:cNvPr>
          <p:cNvSpPr/>
          <p:nvPr/>
        </p:nvSpPr>
        <p:spPr>
          <a:xfrm>
            <a:off x="5551150" y="3429000"/>
            <a:ext cx="899346" cy="4263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80FACA-069F-B0AA-3B26-CBA3AF8CB70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533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1478</TotalTime>
  <Words>486</Words>
  <Application>Microsoft Office PowerPoint</Application>
  <PresentationFormat>Widescreen</PresentationFormat>
  <Paragraphs>79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Communication Kit (Kit 3)</vt:lpstr>
      <vt:lpstr>Communication Kit : Contents</vt:lpstr>
      <vt:lpstr>Kit 3 Communication Creative Board - Features</vt:lpstr>
      <vt:lpstr> CFL13: Hybrid Relay (IR-NRF) Communication </vt:lpstr>
      <vt:lpstr>CFL13: Hybrid Relay (IR-NRF) Communication</vt:lpstr>
      <vt:lpstr>CFL13: Hybrid Relay (IR-NRF) Communication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55</cp:revision>
  <dcterms:created xsi:type="dcterms:W3CDTF">2025-12-15T19:48:42Z</dcterms:created>
  <dcterms:modified xsi:type="dcterms:W3CDTF">2026-01-07T23:03:06Z</dcterms:modified>
</cp:coreProperties>
</file>