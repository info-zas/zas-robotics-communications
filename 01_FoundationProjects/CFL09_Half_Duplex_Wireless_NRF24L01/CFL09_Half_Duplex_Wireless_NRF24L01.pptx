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561" r:id="rId3"/>
    <p:sldId id="260" r:id="rId4"/>
    <p:sldId id="257" r:id="rId5"/>
    <p:sldId id="562" r:id="rId6"/>
    <p:sldId id="563" r:id="rId7"/>
    <p:sldId id="564" r:id="rId8"/>
    <p:sldId id="270" r:id="rId9"/>
    <p:sldId id="565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77" d="100"/>
          <a:sy n="77" d="100"/>
        </p:scale>
        <p:origin x="6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EA32-2B8B-4244-A536-214CF6D4B9AB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2CD01-2772-4AF8-9466-73774B5F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30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29318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970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3722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464B0B-3CDA-8AFD-A136-AA80755CE963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73311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698503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9801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275F90-3167-AEBD-D502-299F21D0E3D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F5D21-5C4F-8D9E-7FA8-76F7F6342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9D9B3-8F15-A5BD-3712-7E9B6FB9B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3F52-B7DA-A46F-7D47-F3165BA0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DE237-D0A8-8204-0CBC-116E5240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7FEF-679B-858D-946F-54A02B4B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5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531-151F-744E-6E6B-6289ADDE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542F-505E-8990-FA6A-1C0926767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A6E7E-6DE9-2DCD-CEB7-C34692D5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BB5AF-1A83-E4B7-F215-3322543F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F16BA-8086-5B54-3073-62329D1B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37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A0FE-A8AD-7D8B-D9AF-32BE2DF4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975F9-423B-F4B0-21FD-AD9E59190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39C2A-A532-6A07-D74B-DFA87833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FF95C-1489-D66D-17EE-7E7F4BDE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C3CEA-0A0C-F0E0-2382-FE3CFFA3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35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FA62B-3196-810C-25DA-867E58E4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9251-ADB9-564F-A0E8-4544B5DD2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38357-F991-916E-F55E-D33B3B558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712E3-C5C9-A553-608F-F6617A9B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2906B-4867-30DD-0DCE-BC37F1AC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06FF6-B6C3-3F5B-617C-092C9CEB5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60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C197-A54D-0BC2-1361-071D144C8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F5B1B-2A95-BC89-83B7-73DDD978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93C43-1D8D-B03E-ADF5-E8FE0B295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C70AF-659D-A939-1A82-B4EBD7B8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39A98-65A3-3CF5-AD07-9AAC8288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B3538-91A6-D119-5D4B-7FBF59B2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852D7-8ADE-231B-1748-76E48145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06E61-8A9B-EA2A-EAAD-0B862C76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2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9240-87DD-5F4C-0863-5DA6FB53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9AC3C-F8C1-59A1-4915-36458156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29AB9-B5FC-420A-E844-DE2DCB4C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27500-6C83-17A4-C2D6-31B648FE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6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C8079-13FD-8590-4D92-1477F029B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FC357A-F34C-E06D-7085-97B89AD6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67FF8-8244-9FD5-7677-5BF0C292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4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662F-416B-A35F-03C2-53DFA6DCD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53E01-08C9-C606-714F-14B984E64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283E3-BEF2-0983-B542-9CC494C8B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192B0-8202-50EF-4F30-CD86E593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81173-902E-BB87-52CA-02814A42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3DABF-C3FB-6892-42E2-3042028E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968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37CE-6997-2F94-6AB8-28894A46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253F0-61CB-494C-9AE2-75D4D6A8E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BB420-64D6-A41D-342E-50D18D8B7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583DC-D3BC-F8A0-CAF3-53E862AAF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07A1B-67EC-2703-4322-26748FC7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4383E-78FC-B5FE-595F-0448B665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07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44FA-6991-3534-22D7-EFD58AC2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5CF4C-1405-BFA5-0A04-5D82CB2AD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35254-5C3A-03C6-2789-A0372290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F644E-9AE7-6B98-3779-AD44811E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016E-072A-A391-875E-41D05145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88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F21B1-1D8F-7580-A9B7-CF11AB94C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3E446-2D02-E169-F4CE-59F4A64FF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AA05B-0406-D755-E324-32CBD489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4BF43-763C-F446-1231-1FB6CB83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38E66-0A51-C30E-742E-1C95BDC8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36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7EBAD-5A44-D508-FACE-3A970FC0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969B6-7349-041D-7E62-61E137625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9CF7F-72A8-368D-2FDD-B58429DC1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BB911-5ECA-16CF-A969-6C2522606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4F58A-1703-F328-A5DA-1551CB2F4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97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info-zas/Training/tree/main/GPREC/03_Communications/01_Code/04_Comm_Kit_NRF24L01_Receiver_Encoder_Value" TargetMode="External"/><Relationship Id="rId4" Type="http://schemas.openxmlformats.org/officeDocument/2006/relationships/hyperlink" Target="https://github.com/info-zas/Training/tree/main/GPREC/03_Communications/01_Code/03_Comm_Kit_NRF24L01_Transmitter_Encoder_Val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(Kit 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416" y="3688774"/>
            <a:ext cx="10351168" cy="1655762"/>
          </a:xfrm>
        </p:spPr>
        <p:txBody>
          <a:bodyPr>
            <a:normAutofit fontScale="850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Communication Foundation Lessons (CFL)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CFL02)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CFL09: Half-Duplex Wireless Communication Using NRF24L01</a:t>
            </a:r>
            <a:endParaRPr lang="en-GB" sz="3600" b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: Contents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AC25C5-432E-8472-0A6B-B89408892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479" y="1380661"/>
            <a:ext cx="5847522" cy="4360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EC2A0-8833-DC11-D0B9-6B849F16D6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6508" y="1477756"/>
            <a:ext cx="4197264" cy="4263887"/>
          </a:xfrm>
          <a:prstGeom prst="rect">
            <a:avLst/>
          </a:prstGeom>
        </p:spPr>
      </p:pic>
      <p:sp>
        <p:nvSpPr>
          <p:cNvPr id="8" name="TextBox 45">
            <a:extLst>
              <a:ext uri="{FF2B5EF4-FFF2-40B4-BE49-F238E27FC236}">
                <a16:creationId xmlns:a16="http://schemas.microsoft.com/office/drawing/2014/main" id="{8DC5E389-0D5A-F470-2189-C2FF3449BF66}"/>
              </a:ext>
            </a:extLst>
          </p:cNvPr>
          <p:cNvSpPr txBox="1"/>
          <p:nvPr/>
        </p:nvSpPr>
        <p:spPr bwMode="auto">
          <a:xfrm>
            <a:off x="1530469" y="5933742"/>
            <a:ext cx="3260408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 dirty="0"/>
              <a:t>Communication</a:t>
            </a:r>
            <a:r>
              <a:rPr lang="en-GB" b="1" dirty="0"/>
              <a:t> Kit Components</a:t>
            </a:r>
            <a:endParaRPr dirty="0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2EF83828-E71C-4BA2-4142-04C145376EDA}"/>
              </a:ext>
            </a:extLst>
          </p:cNvPr>
          <p:cNvSpPr txBox="1"/>
          <p:nvPr/>
        </p:nvSpPr>
        <p:spPr bwMode="auto">
          <a:xfrm>
            <a:off x="7589967" y="5933741"/>
            <a:ext cx="3150347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</a:t>
            </a:r>
            <a:r>
              <a:rPr lang="en-GB" b="1" dirty="0"/>
              <a:t> Creative Board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047694" name="Title 1"/>
          <p:cNvSpPr>
            <a:spLocks noGrp="1"/>
          </p:cNvSpPr>
          <p:nvPr>
            <p:ph type="title"/>
          </p:nvPr>
        </p:nvSpPr>
        <p:spPr bwMode="auto"/>
        <p:txBody>
          <a:bodyPr vert="horz" lIns="91440" tIns="45720" rIns="91440" bIns="45720" rtlCol="0" anchor="ctr">
            <a:normAutofit/>
          </a:bodyPr>
          <a:lstStyle/>
          <a:p>
            <a:pPr rtl="0">
              <a:spcBef>
                <a:spcPct val="0"/>
              </a:spcBef>
            </a:pP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Kit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Creative Board - Features</a:t>
            </a:r>
            <a:endParaRPr b="1" kern="1200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DF7B30-4988-34F3-4821-794FB38B04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48464" y="1770208"/>
            <a:ext cx="4862629" cy="493981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E2975DB-E2B1-3D15-2A22-93E1C92B221A}"/>
              </a:ext>
            </a:extLst>
          </p:cNvPr>
          <p:cNvCxnSpPr/>
          <p:nvPr/>
        </p:nvCxnSpPr>
        <p:spPr>
          <a:xfrm flipH="1" flipV="1">
            <a:off x="1926772" y="256358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9ACF50-60B2-A66B-FC8F-F5E0E708EEC5}"/>
              </a:ext>
            </a:extLst>
          </p:cNvPr>
          <p:cNvCxnSpPr>
            <a:cxnSpLocks/>
          </p:cNvCxnSpPr>
          <p:nvPr/>
        </p:nvCxnSpPr>
        <p:spPr bwMode="auto">
          <a:xfrm flipV="1">
            <a:off x="6889587" y="1715780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16B88E-0D01-A116-9F44-7020C7D75BA1}"/>
              </a:ext>
            </a:extLst>
          </p:cNvPr>
          <p:cNvSpPr txBox="1"/>
          <p:nvPr/>
        </p:nvSpPr>
        <p:spPr>
          <a:xfrm>
            <a:off x="9632785" y="1545782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LoRa Module I/F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D9C85B-50AB-D7BD-3A53-E563397E2A5B}"/>
              </a:ext>
            </a:extLst>
          </p:cNvPr>
          <p:cNvSpPr txBox="1"/>
          <p:nvPr/>
        </p:nvSpPr>
        <p:spPr bwMode="auto">
          <a:xfrm>
            <a:off x="1138883" y="2314886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ESP32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0B6FB5-6A3E-F498-3D69-7A1FBABE0E26}"/>
              </a:ext>
            </a:extLst>
          </p:cNvPr>
          <p:cNvCxnSpPr>
            <a:cxnSpLocks/>
          </p:cNvCxnSpPr>
          <p:nvPr/>
        </p:nvCxnSpPr>
        <p:spPr bwMode="auto">
          <a:xfrm flipV="1">
            <a:off x="7052872" y="2867182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16E2B2-A493-5878-80CF-CE572B548F57}"/>
              </a:ext>
            </a:extLst>
          </p:cNvPr>
          <p:cNvSpPr txBox="1"/>
          <p:nvPr/>
        </p:nvSpPr>
        <p:spPr bwMode="auto">
          <a:xfrm>
            <a:off x="9796070" y="2602966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OLED I/F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2CEF49-9565-4353-6CE3-BA57A4A8A906}"/>
              </a:ext>
            </a:extLst>
          </p:cNvPr>
          <p:cNvCxnSpPr>
            <a:cxnSpLocks/>
          </p:cNvCxnSpPr>
          <p:nvPr/>
        </p:nvCxnSpPr>
        <p:spPr bwMode="auto">
          <a:xfrm flipV="1">
            <a:off x="7805059" y="2282744"/>
            <a:ext cx="1827726" cy="50488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1919051-7F1C-8A10-D296-E6155E7B5D94}"/>
              </a:ext>
            </a:extLst>
          </p:cNvPr>
          <p:cNvSpPr txBox="1"/>
          <p:nvPr/>
        </p:nvSpPr>
        <p:spPr bwMode="auto">
          <a:xfrm>
            <a:off x="9796070" y="2080662"/>
            <a:ext cx="225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NRF24L01 Module I/F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580061-4FAC-8D17-0DE4-3134E6A611BC}"/>
              </a:ext>
            </a:extLst>
          </p:cNvPr>
          <p:cNvCxnSpPr>
            <a:cxnSpLocks/>
          </p:cNvCxnSpPr>
          <p:nvPr/>
        </p:nvCxnSpPr>
        <p:spPr bwMode="auto">
          <a:xfrm flipV="1">
            <a:off x="7747824" y="3204820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94428AD-8C9E-E2A3-3189-B1017094D23C}"/>
              </a:ext>
            </a:extLst>
          </p:cNvPr>
          <p:cNvSpPr txBox="1"/>
          <p:nvPr/>
        </p:nvSpPr>
        <p:spPr bwMode="auto">
          <a:xfrm>
            <a:off x="9836806" y="3020154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RFID I/F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CFD017-CCC8-D2EB-DDC1-894905A78198}"/>
              </a:ext>
            </a:extLst>
          </p:cNvPr>
          <p:cNvSpPr txBox="1"/>
          <p:nvPr/>
        </p:nvSpPr>
        <p:spPr bwMode="auto">
          <a:xfrm>
            <a:off x="9796070" y="3828362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SD Card Module I/F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C8FE61-FD6C-0251-47A8-5B268CC5CFB3}"/>
              </a:ext>
            </a:extLst>
          </p:cNvPr>
          <p:cNvCxnSpPr>
            <a:cxnSpLocks/>
          </p:cNvCxnSpPr>
          <p:nvPr/>
        </p:nvCxnSpPr>
        <p:spPr bwMode="auto">
          <a:xfrm flipV="1">
            <a:off x="7788560" y="4013028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509D3B-F2A5-6016-8A59-13465887E570}"/>
              </a:ext>
            </a:extLst>
          </p:cNvPr>
          <p:cNvCxnSpPr>
            <a:cxnSpLocks/>
          </p:cNvCxnSpPr>
          <p:nvPr/>
        </p:nvCxnSpPr>
        <p:spPr bwMode="auto">
          <a:xfrm flipV="1">
            <a:off x="7505531" y="4877649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3AE2AE8-70F6-913F-6DCD-D962B47AFA30}"/>
              </a:ext>
            </a:extLst>
          </p:cNvPr>
          <p:cNvSpPr txBox="1"/>
          <p:nvPr/>
        </p:nvSpPr>
        <p:spPr bwMode="auto">
          <a:xfrm>
            <a:off x="9569305" y="467275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Rotary Encoder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343405-0070-F525-C73F-F07ECAD76F7D}"/>
              </a:ext>
            </a:extLst>
          </p:cNvPr>
          <p:cNvSpPr txBox="1"/>
          <p:nvPr/>
        </p:nvSpPr>
        <p:spPr>
          <a:xfrm>
            <a:off x="4463143" y="4315867"/>
            <a:ext cx="707571" cy="726221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15369F-B29C-6924-07C9-C31A2585E0C5}"/>
              </a:ext>
            </a:extLst>
          </p:cNvPr>
          <p:cNvCxnSpPr/>
          <p:nvPr/>
        </p:nvCxnSpPr>
        <p:spPr bwMode="auto">
          <a:xfrm flipH="1" flipV="1">
            <a:off x="2191304" y="411517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043822-8E50-C62F-D0E4-CD19BCC50FC3}"/>
              </a:ext>
            </a:extLst>
          </p:cNvPr>
          <p:cNvSpPr txBox="1"/>
          <p:nvPr/>
        </p:nvSpPr>
        <p:spPr bwMode="auto">
          <a:xfrm>
            <a:off x="887406" y="3596956"/>
            <a:ext cx="1314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Mini</a:t>
            </a:r>
          </a:p>
          <a:p>
            <a:pPr algn="ctr"/>
            <a:r>
              <a:rPr lang="en-GB" b="1" dirty="0"/>
              <a:t>Breadboard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E97AFC-F411-8FFF-717B-A4A33D748FB9}"/>
              </a:ext>
            </a:extLst>
          </p:cNvPr>
          <p:cNvSpPr txBox="1"/>
          <p:nvPr/>
        </p:nvSpPr>
        <p:spPr bwMode="auto">
          <a:xfrm>
            <a:off x="3642020" y="4527306"/>
            <a:ext cx="678146" cy="396584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531BEF-BB1B-33A5-AC2E-71E18688C7F8}"/>
              </a:ext>
            </a:extLst>
          </p:cNvPr>
          <p:cNvCxnSpPr/>
          <p:nvPr/>
        </p:nvCxnSpPr>
        <p:spPr bwMode="auto">
          <a:xfrm flipH="1" flipV="1">
            <a:off x="1520922" y="452730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6A88AC0-52C9-901F-BD11-0D31687167C9}"/>
              </a:ext>
            </a:extLst>
          </p:cNvPr>
          <p:cNvSpPr txBox="1"/>
          <p:nvPr/>
        </p:nvSpPr>
        <p:spPr bwMode="auto">
          <a:xfrm>
            <a:off x="607977" y="4240115"/>
            <a:ext cx="117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Power</a:t>
            </a:r>
          </a:p>
          <a:p>
            <a:pPr algn="ctr"/>
            <a:r>
              <a:rPr lang="en-GB" b="1" dirty="0"/>
              <a:t>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7764177-32CC-5E45-BB56-1E60B7CADDDA}"/>
              </a:ext>
            </a:extLst>
          </p:cNvPr>
          <p:cNvCxnSpPr/>
          <p:nvPr/>
        </p:nvCxnSpPr>
        <p:spPr bwMode="auto">
          <a:xfrm flipH="1" flipV="1">
            <a:off x="2065649" y="5066397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EBCEB09-33EF-81ED-FC57-64EE766E183B}"/>
              </a:ext>
            </a:extLst>
          </p:cNvPr>
          <p:cNvSpPr txBox="1"/>
          <p:nvPr/>
        </p:nvSpPr>
        <p:spPr bwMode="auto">
          <a:xfrm>
            <a:off x="480118" y="4888928"/>
            <a:ext cx="164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ON/OFF Switch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20CA7F4-8A96-8BC0-CA3D-38EA0ED7C3A9}"/>
              </a:ext>
            </a:extLst>
          </p:cNvPr>
          <p:cNvCxnSpPr/>
          <p:nvPr/>
        </p:nvCxnSpPr>
        <p:spPr bwMode="auto">
          <a:xfrm flipH="1" flipV="1">
            <a:off x="1407533" y="5559425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46B7603-764A-5599-E91C-CE67A7A71198}"/>
              </a:ext>
            </a:extLst>
          </p:cNvPr>
          <p:cNvSpPr txBox="1"/>
          <p:nvPr/>
        </p:nvSpPr>
        <p:spPr bwMode="auto">
          <a:xfrm>
            <a:off x="281772" y="5583199"/>
            <a:ext cx="162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Input DC Jack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7A5062-C9B4-A6C2-D863-D6214E5B9C6B}"/>
              </a:ext>
            </a:extLst>
          </p:cNvPr>
          <p:cNvSpPr txBox="1"/>
          <p:nvPr/>
        </p:nvSpPr>
        <p:spPr bwMode="auto">
          <a:xfrm>
            <a:off x="5745958" y="5121677"/>
            <a:ext cx="1411945" cy="1200329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4FDAAFD-E90A-2BC1-3F56-8FA473A1E0EC}"/>
              </a:ext>
            </a:extLst>
          </p:cNvPr>
          <p:cNvCxnSpPr>
            <a:cxnSpLocks/>
          </p:cNvCxnSpPr>
          <p:nvPr/>
        </p:nvCxnSpPr>
        <p:spPr bwMode="auto">
          <a:xfrm flipV="1">
            <a:off x="6670676" y="5516444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D01CA8C-28BA-5DBA-89F1-48A6905765DE}"/>
              </a:ext>
            </a:extLst>
          </p:cNvPr>
          <p:cNvSpPr txBox="1"/>
          <p:nvPr/>
        </p:nvSpPr>
        <p:spPr bwMode="auto">
          <a:xfrm>
            <a:off x="8718922" y="5449951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Free Connectors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926-F5FB-6C51-E2D0-30FCC899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DFBB1-0230-2A13-A887-01777778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740D586E-55B5-5094-D9DB-F1123CC5D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388" y="3200400"/>
            <a:ext cx="3435835" cy="3155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4482F8-1347-DEC5-1ED0-0F6E05EE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CFL09 : Half-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Duplex Wireless Communication Using NRF24L01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EC62-7BFF-858A-D846-91789E902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1013"/>
            <a:ext cx="10515600" cy="4351338"/>
          </a:xfrm>
        </p:spPr>
        <p:txBody>
          <a:bodyPr/>
          <a:lstStyle/>
          <a:p>
            <a:r>
              <a:rPr lang="en-GB" b="1" dirty="0"/>
              <a:t>Things Needed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C0CDC-7C73-2B32-1083-BECC3125F8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A5F98B-EA2D-8434-CDBE-E779F35C5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10FD22-43DC-BAB4-68F1-1F8924F2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4</a:t>
            </a:fld>
            <a:endParaRPr lang="en-GB"/>
          </a:p>
        </p:txBody>
      </p:sp>
      <p:pic>
        <p:nvPicPr>
          <p:cNvPr id="17" name="Picture 16" descr="A black and silver usb cable&#10;&#10;AI-generated content may be incorrect.">
            <a:extLst>
              <a:ext uri="{FF2B5EF4-FFF2-40B4-BE49-F238E27FC236}">
                <a16:creationId xmlns:a16="http://schemas.microsoft.com/office/drawing/2014/main" id="{EDEA0734-B278-0DD5-86F8-89594083F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0862" y="5011792"/>
            <a:ext cx="1295951" cy="12783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5BBE5E-D8C6-F4CD-49E2-964C0D5A78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929654" y="3499978"/>
            <a:ext cx="1597159" cy="1278397"/>
          </a:xfrm>
          <a:prstGeom prst="rect">
            <a:avLst/>
          </a:prstGeom>
        </p:spPr>
      </p:pic>
      <p:pic>
        <p:nvPicPr>
          <p:cNvPr id="6" name="Picture 5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D321BE0E-850B-DA08-7A4D-3D7C44E6F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589" y="3389035"/>
            <a:ext cx="3435835" cy="3155950"/>
          </a:xfrm>
          <a:prstGeom prst="rect">
            <a:avLst/>
          </a:prstGeom>
        </p:spPr>
      </p:pic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A058AC05-157D-D0B6-D4A2-36B88D177A48}"/>
              </a:ext>
            </a:extLst>
          </p:cNvPr>
          <p:cNvSpPr txBox="1">
            <a:spLocks/>
          </p:cNvSpPr>
          <p:nvPr/>
        </p:nvSpPr>
        <p:spPr>
          <a:xfrm>
            <a:off x="2706171" y="84198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1F5A6A5-3841-4FBA-B455-67883EB3171A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10" name="Picture 9" descr="A black and silver usb cable&#10;&#10;AI-generated content may be incorrect.">
            <a:extLst>
              <a:ext uri="{FF2B5EF4-FFF2-40B4-BE49-F238E27FC236}">
                <a16:creationId xmlns:a16="http://schemas.microsoft.com/office/drawing/2014/main" id="{8E0F1F09-D256-CC2C-5A02-49D672144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933" y="4870173"/>
            <a:ext cx="1583078" cy="15616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C4470A-9C85-9124-D4FC-0720A7BA15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982585" y="3302111"/>
            <a:ext cx="1597159" cy="127839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2AE516-4384-34EA-8F8B-B65F9DD73B1F}"/>
              </a:ext>
            </a:extLst>
          </p:cNvPr>
          <p:cNvSpPr txBox="1"/>
          <p:nvPr/>
        </p:nvSpPr>
        <p:spPr>
          <a:xfrm>
            <a:off x="2209800" y="2603281"/>
            <a:ext cx="1497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ESP32-A: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4BF249-7BAF-B7D4-2E78-7323EF91D2C5}"/>
              </a:ext>
            </a:extLst>
          </p:cNvPr>
          <p:cNvSpPr txBox="1"/>
          <p:nvPr/>
        </p:nvSpPr>
        <p:spPr>
          <a:xfrm>
            <a:off x="8694388" y="2418615"/>
            <a:ext cx="1497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ESP32-B: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D7D4A98-ACC2-B9D1-3EE7-6FC9219D2261}"/>
              </a:ext>
            </a:extLst>
          </p:cNvPr>
          <p:cNvCxnSpPr/>
          <p:nvPr/>
        </p:nvCxnSpPr>
        <p:spPr>
          <a:xfrm>
            <a:off x="6758609" y="2186609"/>
            <a:ext cx="0" cy="435230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01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8CC77-426A-0665-FB25-C58F87DE6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CFL09 : What is Simplex and Duplex Communication?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CAAAE-4209-BA20-624F-17D6B6A7B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Communication in electronics can be:</a:t>
            </a:r>
          </a:p>
          <a:p>
            <a:pPr lvl="1"/>
            <a:r>
              <a:rPr lang="en-GB" b="1" dirty="0"/>
              <a:t>Simplex</a:t>
            </a:r>
            <a:r>
              <a:rPr lang="en-GB" dirty="0"/>
              <a:t>: One-way</a:t>
            </a:r>
          </a:p>
          <a:p>
            <a:pPr lvl="2"/>
            <a:r>
              <a:rPr lang="en-US" b="1" dirty="0"/>
              <a:t>Definition</a:t>
            </a:r>
            <a:r>
              <a:rPr lang="en-US" dirty="0"/>
              <a:t>: Data flows in only one direction</a:t>
            </a:r>
          </a:p>
          <a:p>
            <a:pPr lvl="2"/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ESP32-A sends sensor data</a:t>
            </a:r>
          </a:p>
          <a:p>
            <a:pPr lvl="2"/>
            <a:r>
              <a:rPr lang="en-US" dirty="0"/>
              <a:t>ESP32-B only receives</a:t>
            </a:r>
          </a:p>
          <a:p>
            <a:pPr lvl="2"/>
            <a:r>
              <a:rPr lang="en-GB" b="1" dirty="0"/>
              <a:t>Real-world analogy</a:t>
            </a:r>
            <a:r>
              <a:rPr lang="en-GB" dirty="0"/>
              <a:t>: TV broadcast</a:t>
            </a:r>
          </a:p>
          <a:p>
            <a:pPr lvl="1"/>
            <a:r>
              <a:rPr lang="en-US" b="1" dirty="0"/>
              <a:t>Duplex</a:t>
            </a:r>
            <a:r>
              <a:rPr lang="en-US" dirty="0"/>
              <a:t>: Two-way (Half or Full)</a:t>
            </a:r>
          </a:p>
          <a:p>
            <a:pPr lvl="2"/>
            <a:r>
              <a:rPr lang="en-US" b="1" dirty="0"/>
              <a:t>Definition</a:t>
            </a:r>
            <a:r>
              <a:rPr lang="en-US" dirty="0"/>
              <a:t>: Data flows in both directions</a:t>
            </a:r>
          </a:p>
          <a:p>
            <a:pPr lvl="2"/>
            <a:r>
              <a:rPr lang="en-US" b="1" dirty="0"/>
              <a:t>Types</a:t>
            </a:r>
            <a:r>
              <a:rPr lang="en-US" dirty="0"/>
              <a:t>:</a:t>
            </a:r>
          </a:p>
          <a:p>
            <a:pPr lvl="2"/>
            <a:r>
              <a:rPr lang="en-US" b="1" u="sng" dirty="0"/>
              <a:t>Half-Duplex</a:t>
            </a:r>
            <a:r>
              <a:rPr lang="en-US" u="sng" dirty="0"/>
              <a:t>: </a:t>
            </a:r>
            <a:r>
              <a:rPr lang="en-US" dirty="0"/>
              <a:t>One direction at a time (walkie-talkie)</a:t>
            </a:r>
          </a:p>
          <a:p>
            <a:pPr lvl="2"/>
            <a:r>
              <a:rPr lang="en-US" b="1" dirty="0"/>
              <a:t>Full-Duplex</a:t>
            </a:r>
            <a:r>
              <a:rPr lang="en-US" dirty="0"/>
              <a:t>: Both directions at the same time (phone call)</a:t>
            </a:r>
            <a:r>
              <a:rPr lang="en-US" b="1" dirty="0"/>
              <a:t> </a:t>
            </a:r>
          </a:p>
          <a:p>
            <a:pPr lvl="1"/>
            <a:r>
              <a:rPr lang="en-US" b="1" u="sng" dirty="0"/>
              <a:t>In Microcontrollers:</a:t>
            </a:r>
            <a:r>
              <a:rPr lang="en-US" u="sng" dirty="0"/>
              <a:t> Usually implement </a:t>
            </a:r>
            <a:r>
              <a:rPr lang="en-US" b="1" u="sng" dirty="0"/>
              <a:t>Half-Duplex</a:t>
            </a:r>
            <a:endParaRPr lang="en-US" u="sng" dirty="0"/>
          </a:p>
          <a:p>
            <a:pPr lvl="4"/>
            <a:endParaRPr lang="en-US" dirty="0"/>
          </a:p>
          <a:p>
            <a:pPr lvl="1"/>
            <a:endParaRPr lang="en-US" dirty="0"/>
          </a:p>
          <a:p>
            <a:pPr lvl="1"/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719E2-D791-0210-01B8-F11131959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0C779-91BE-9A26-9441-92CFCAC34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5</a:t>
            </a:fld>
            <a:endParaRPr lang="en-GB"/>
          </a:p>
        </p:txBody>
      </p:sp>
      <p:pic>
        <p:nvPicPr>
          <p:cNvPr id="8" name="Picture 7" descr="A close-up of a sign&#10;&#10;AI-generated content may be incorrect.">
            <a:extLst>
              <a:ext uri="{FF2B5EF4-FFF2-40B4-BE49-F238E27FC236}">
                <a16:creationId xmlns:a16="http://schemas.microsoft.com/office/drawing/2014/main" id="{61F19542-F1F5-1C75-5323-E54A82EC7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471" y="3170137"/>
            <a:ext cx="2331922" cy="655377"/>
          </a:xfrm>
          <a:prstGeom prst="rect">
            <a:avLst/>
          </a:prstGeom>
        </p:spPr>
      </p:pic>
      <p:pic>
        <p:nvPicPr>
          <p:cNvPr id="10" name="Picture 9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5CEF691F-B09A-21E3-1B54-5244B7E25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432" y="4536378"/>
            <a:ext cx="2834886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676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9A228-6CE8-09E3-C124-84B101A95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CFL09 : Half-Duplex Communication Using NRF24L01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1C1A0-FF33-7C14-D0D6-94B40E2D0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NRF24L01 allows duplex communication using:</a:t>
            </a:r>
          </a:p>
          <a:p>
            <a:pPr lvl="1"/>
            <a:r>
              <a:rPr lang="en-GB" dirty="0" err="1"/>
              <a:t>radio.stopListening</a:t>
            </a:r>
            <a:r>
              <a:rPr lang="en-GB" dirty="0"/>
              <a:t>(); to send</a:t>
            </a:r>
          </a:p>
          <a:p>
            <a:pPr lvl="1"/>
            <a:r>
              <a:rPr lang="en-GB" dirty="0" err="1"/>
              <a:t>radio.startListening</a:t>
            </a:r>
            <a:r>
              <a:rPr lang="en-GB" dirty="0"/>
              <a:t>(); to receive</a:t>
            </a:r>
          </a:p>
          <a:p>
            <a:pPr lvl="1"/>
            <a:endParaRPr lang="en-GB" dirty="0"/>
          </a:p>
          <a:p>
            <a:r>
              <a:rPr lang="en-US" dirty="0"/>
              <a:t>You alternate between sending and receiving (Half-Duplex)</a:t>
            </a:r>
          </a:p>
          <a:p>
            <a:endParaRPr lang="en-US" dirty="0"/>
          </a:p>
          <a:p>
            <a:pPr lvl="1"/>
            <a:r>
              <a:rPr lang="en-US" b="1" dirty="0"/>
              <a:t>Example Flow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ESP32-A sends data</a:t>
            </a:r>
          </a:p>
          <a:p>
            <a:pPr lvl="1"/>
            <a:r>
              <a:rPr lang="en-US" dirty="0"/>
              <a:t>ESP32-B receives it</a:t>
            </a:r>
          </a:p>
          <a:p>
            <a:pPr lvl="1"/>
            <a:r>
              <a:rPr lang="en-US" dirty="0"/>
              <a:t>ESP32-B replies</a:t>
            </a:r>
          </a:p>
          <a:p>
            <a:pPr lvl="1"/>
            <a:r>
              <a:rPr lang="en-US" dirty="0"/>
              <a:t>ESP32-A receives reply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A233B-427E-37D3-B811-868B75B9E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1A046-F01A-0057-A624-05184D0AC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040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344CB-4C37-013D-7EC2-BFCD37785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CFL09 : Half-Duplex Communication Using NRF24L01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C8069-DC50-4F5B-6B34-837C01C32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ESP32-A:</a:t>
            </a:r>
          </a:p>
          <a:p>
            <a:r>
              <a:rPr lang="en-US" b="1" dirty="0"/>
              <a:t>Potentiometer</a:t>
            </a:r>
            <a:r>
              <a:rPr lang="en-US" dirty="0"/>
              <a:t> controls a value (e.g., "speed" or "brightness")</a:t>
            </a:r>
          </a:p>
          <a:p>
            <a:r>
              <a:rPr lang="en-US" dirty="0"/>
              <a:t>When </a:t>
            </a:r>
            <a:r>
              <a:rPr lang="en-US" b="1" dirty="0"/>
              <a:t>pushbutton (pin 25)</a:t>
            </a:r>
            <a:r>
              <a:rPr lang="en-US" dirty="0"/>
              <a:t> is pressed:</a:t>
            </a:r>
          </a:p>
          <a:p>
            <a:pPr lvl="1"/>
            <a:r>
              <a:rPr lang="en-US" dirty="0"/>
              <a:t>Sends a message: "Pot: 3780, Enc: 12"</a:t>
            </a:r>
          </a:p>
          <a:p>
            <a:pPr lvl="1"/>
            <a:r>
              <a:rPr lang="en-US" dirty="0"/>
              <a:t>Receiver ESP32-B turns </a:t>
            </a:r>
            <a:r>
              <a:rPr lang="en-US" b="1" dirty="0"/>
              <a:t>LED ON</a:t>
            </a:r>
            <a:r>
              <a:rPr lang="en-US" dirty="0"/>
              <a:t> if pot &gt; 3000</a:t>
            </a:r>
          </a:p>
          <a:p>
            <a:r>
              <a:rPr lang="en-US" b="1" dirty="0"/>
              <a:t>ESP32-B:</a:t>
            </a:r>
          </a:p>
          <a:p>
            <a:r>
              <a:rPr lang="en-US" dirty="0"/>
              <a:t>Receives data</a:t>
            </a:r>
          </a:p>
          <a:p>
            <a:r>
              <a:rPr lang="en-US" dirty="0"/>
              <a:t>Displays Pot and Enc values on OLED</a:t>
            </a:r>
          </a:p>
          <a:p>
            <a:r>
              <a:rPr lang="en-US" dirty="0"/>
              <a:t>If pot &gt; 3000:</a:t>
            </a:r>
          </a:p>
          <a:p>
            <a:pPr lvl="1"/>
            <a:r>
              <a:rPr lang="en-US" dirty="0"/>
              <a:t>Turns ON </a:t>
            </a:r>
            <a:r>
              <a:rPr lang="en-US" b="1" dirty="0"/>
              <a:t>LED and buzzer</a:t>
            </a:r>
            <a:endParaRPr lang="en-US" dirty="0"/>
          </a:p>
          <a:p>
            <a:r>
              <a:rPr lang="en-US" dirty="0"/>
              <a:t>Then sends back </a:t>
            </a:r>
            <a:r>
              <a:rPr lang="en-US" b="1" dirty="0"/>
              <a:t>confirmation message</a:t>
            </a:r>
            <a:r>
              <a:rPr lang="en-US" dirty="0"/>
              <a:t>: "Received, LED ON“</a:t>
            </a:r>
          </a:p>
          <a:p>
            <a:r>
              <a:rPr lang="en-US" b="1" dirty="0"/>
              <a:t>ESP32-A:</a:t>
            </a:r>
          </a:p>
          <a:p>
            <a:r>
              <a:rPr lang="en-US" dirty="0"/>
              <a:t>Receives the confirmation</a:t>
            </a:r>
          </a:p>
          <a:p>
            <a:r>
              <a:rPr lang="en-US" dirty="0"/>
              <a:t>Displays ACK on OLED</a:t>
            </a:r>
          </a:p>
          <a:p>
            <a:pPr marL="0" indent="0">
              <a:buNone/>
            </a:pPr>
            <a:endParaRPr lang="en-US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20B5E-A21A-1BCC-755F-6F54B6E7E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C04DE-8FE3-0E2F-3D59-E8609D66F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5764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8E4B09-3E4F-D61E-FD8B-571347CE8B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096" y="2002554"/>
            <a:ext cx="4815979" cy="4120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137195-3F4E-B9CC-41D4-57320F44A5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602" y="1899096"/>
            <a:ext cx="4936894" cy="422413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745F10B-3A87-FBBB-EC62-8D1B74307863}"/>
              </a:ext>
            </a:extLst>
          </p:cNvPr>
          <p:cNvSpPr txBox="1">
            <a:spLocks/>
          </p:cNvSpPr>
          <p:nvPr/>
        </p:nvSpPr>
        <p:spPr bwMode="auto"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1">
              <a:lnSpc>
                <a:spcPct val="90000"/>
              </a:lnSpc>
              <a:defRPr/>
            </a:pPr>
            <a:r>
              <a:rPr lang="en-GB" sz="40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CFL09 : Half-</a:t>
            </a:r>
            <a:r>
              <a:rPr lang="en-US" sz="40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Duplex Wireless Communication Using NRF24L01</a:t>
            </a:r>
            <a:endParaRPr lang="en-GB" sz="4000" b="1" dirty="0">
              <a:solidFill>
                <a:srgbClr val="FF3300"/>
              </a:solidFill>
              <a:latin typeface="+mj-lt"/>
              <a:ea typeface="Calibri Light"/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1DC7AB-BAC9-603B-ECAF-442224EDF8F9}"/>
              </a:ext>
            </a:extLst>
          </p:cNvPr>
          <p:cNvSpPr txBox="1"/>
          <p:nvPr/>
        </p:nvSpPr>
        <p:spPr bwMode="auto">
          <a:xfrm>
            <a:off x="1147916" y="2723536"/>
            <a:ext cx="2106561" cy="904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90774-822B-388A-7D67-A2D9D719D7DE}"/>
              </a:ext>
            </a:extLst>
          </p:cNvPr>
          <p:cNvSpPr txBox="1"/>
          <p:nvPr/>
        </p:nvSpPr>
        <p:spPr bwMode="auto">
          <a:xfrm>
            <a:off x="7022690" y="2524433"/>
            <a:ext cx="2106561" cy="904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600DA0-45E6-9A27-42FA-8E4E29B509D8}"/>
              </a:ext>
            </a:extLst>
          </p:cNvPr>
          <p:cNvSpPr txBox="1"/>
          <p:nvPr/>
        </p:nvSpPr>
        <p:spPr bwMode="auto">
          <a:xfrm>
            <a:off x="3463995" y="3158323"/>
            <a:ext cx="1019515" cy="904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125305-B8B8-15CE-421D-C77808736577}"/>
              </a:ext>
            </a:extLst>
          </p:cNvPr>
          <p:cNvSpPr txBox="1"/>
          <p:nvPr/>
        </p:nvSpPr>
        <p:spPr bwMode="auto">
          <a:xfrm>
            <a:off x="9437358" y="3106594"/>
            <a:ext cx="1019515" cy="904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72D14A-7C4E-CF6B-9D27-F9409A8B1752}"/>
              </a:ext>
            </a:extLst>
          </p:cNvPr>
          <p:cNvSpPr txBox="1"/>
          <p:nvPr/>
        </p:nvSpPr>
        <p:spPr bwMode="auto">
          <a:xfrm>
            <a:off x="4483510" y="2586955"/>
            <a:ext cx="1149202" cy="5196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36791F-3691-C635-FD9E-5145F6DE2E4E}"/>
              </a:ext>
            </a:extLst>
          </p:cNvPr>
          <p:cNvSpPr txBox="1"/>
          <p:nvPr/>
        </p:nvSpPr>
        <p:spPr bwMode="auto">
          <a:xfrm>
            <a:off x="10456873" y="2457077"/>
            <a:ext cx="1149202" cy="5196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ABDBF4-30DE-4B62-0C5A-73F8D545BD11}"/>
              </a:ext>
            </a:extLst>
          </p:cNvPr>
          <p:cNvSpPr txBox="1"/>
          <p:nvPr/>
        </p:nvSpPr>
        <p:spPr>
          <a:xfrm>
            <a:off x="2611512" y="6174955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NRF Transmitter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CBA230-E3F7-FA30-0966-56E280A45FC7}"/>
              </a:ext>
            </a:extLst>
          </p:cNvPr>
          <p:cNvSpPr txBox="1"/>
          <p:nvPr/>
        </p:nvSpPr>
        <p:spPr>
          <a:xfrm>
            <a:off x="8348635" y="6141041"/>
            <a:ext cx="14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NRF Receiver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2231A43-5A91-F588-DDD7-DED9CA85C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04E2236-3CA4-9CDB-C0D7-D24B8848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8</a:t>
            </a:fld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9B9F5CB-6E61-7BCD-5FFD-5B01FF746F20}"/>
              </a:ext>
            </a:extLst>
          </p:cNvPr>
          <p:cNvSpPr/>
          <p:nvPr/>
        </p:nvSpPr>
        <p:spPr>
          <a:xfrm>
            <a:off x="5879690" y="2851355"/>
            <a:ext cx="894201" cy="2552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01DA46C-59B6-01E3-7FF2-43327813F492}"/>
              </a:ext>
            </a:extLst>
          </p:cNvPr>
          <p:cNvSpPr/>
          <p:nvPr/>
        </p:nvSpPr>
        <p:spPr>
          <a:xfrm flipH="1">
            <a:off x="5871851" y="4335625"/>
            <a:ext cx="753098" cy="2552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533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9CD46-7EF7-605A-C40E-9C1B22E17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CFL09 : Half-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Duplex Wireless Communication Using NRF24L01</a:t>
            </a:r>
            <a:br>
              <a:rPr lang="en-GB" b="1" dirty="0">
                <a:solidFill>
                  <a:srgbClr val="FF3300"/>
                </a:solidFill>
                <a:ea typeface="Calibri Light"/>
                <a:cs typeface="Calibri Light"/>
              </a:rPr>
            </a:b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19F2D-A37C-1E49-FCA3-3C8D336DB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06E74-7B0E-D9F5-137F-6C5EBFCD9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9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BBA654-DCF7-57C9-0896-484D7B964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877812" y="-321469"/>
            <a:ext cx="3523628" cy="8290889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350BD065-785A-0A2B-2214-6CF8FE34AF32}"/>
              </a:ext>
            </a:extLst>
          </p:cNvPr>
          <p:cNvSpPr/>
          <p:nvPr/>
        </p:nvSpPr>
        <p:spPr>
          <a:xfrm>
            <a:off x="5352916" y="3173761"/>
            <a:ext cx="894201" cy="2552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4530730-C1AC-581B-CEEE-C3E14BFE975B}"/>
              </a:ext>
            </a:extLst>
          </p:cNvPr>
          <p:cNvSpPr/>
          <p:nvPr/>
        </p:nvSpPr>
        <p:spPr>
          <a:xfrm flipH="1">
            <a:off x="5345077" y="4658031"/>
            <a:ext cx="753098" cy="2552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322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691452" name="Content Placeholder 2"/>
          <p:cNvSpPr>
            <a:spLocks noGrp="1"/>
          </p:cNvSpPr>
          <p:nvPr>
            <p:ph idx="1"/>
          </p:nvPr>
        </p:nvSpPr>
        <p:spPr bwMode="auto">
          <a:xfrm>
            <a:off x="453060" y="1203736"/>
            <a:ext cx="4925186" cy="554586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5000" lnSpcReduction="20000"/>
          </a:bodyPr>
          <a:lstStyle/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NRF24L01 – Transmitter &amp; Receiver Workflow</a:t>
            </a:r>
            <a:endParaRPr dirty="0"/>
          </a:p>
          <a:p>
            <a:pPr>
              <a:defRPr/>
            </a:pPr>
            <a:r>
              <a:rPr sz="18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1. Setup Transmitter &amp; Receiver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Configure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ESP32 + NRF24L01</a:t>
            </a: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 on SPI pins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Connect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OLED display</a:t>
            </a: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 for feedback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Set matching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radio address</a:t>
            </a: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 for TX/RX</a:t>
            </a:r>
            <a:endParaRPr dirty="0"/>
          </a:p>
          <a:p>
            <a:pPr>
              <a:defRPr/>
            </a:pPr>
            <a:r>
              <a:rPr sz="24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2. NRF24 Communication Workflow</a:t>
            </a:r>
            <a:endParaRPr dirty="0"/>
          </a:p>
          <a:p>
            <a:pPr>
              <a:defRPr/>
            </a:pPr>
            <a:r>
              <a:rPr sz="18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Transmitter Side (TX)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ESP32 reads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potentiometer value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Formats message as: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"</a:t>
            </a:r>
            <a:r>
              <a:rPr sz="1200" b="1" i="0" u="none" dirty="0" err="1">
                <a:solidFill>
                  <a:srgbClr val="000000"/>
                </a:solidFill>
                <a:ea typeface="Times New Roman"/>
                <a:cs typeface="Times New Roman"/>
              </a:rPr>
              <a:t>PotValue:XXXX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"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Sends packet using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NRF24L01 @ 2.4 GHz</a:t>
            </a: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 (32-byte payload)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OLED shows: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“Sent: XXXX”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Uses SPI pins (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CE, CSN, SCK, MOSI, MISO</a:t>
            </a: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)</a:t>
            </a:r>
            <a:endParaRPr dirty="0"/>
          </a:p>
          <a:p>
            <a:pPr>
              <a:defRPr/>
            </a:pPr>
            <a:r>
              <a:rPr sz="18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NRF24 Wireless Link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Short-range,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high-speed 2.4 GHz</a:t>
            </a: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 radio link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Ideal for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robot-to-robot</a:t>
            </a: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, remote sensors, wireless controllers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Low power, reliable packet system with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auto-acknowledge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Supports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multiple nodes</a:t>
            </a: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 via unique radio addresses</a:t>
            </a:r>
            <a:endParaRPr dirty="0"/>
          </a:p>
          <a:p>
            <a:pPr>
              <a:defRPr/>
            </a:pPr>
            <a:r>
              <a:rPr sz="18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Receiver Side (RX)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ESP32 detects packets using </a:t>
            </a:r>
            <a:r>
              <a:rPr sz="1200" b="1" i="0" u="none" dirty="0" err="1">
                <a:solidFill>
                  <a:srgbClr val="000000"/>
                </a:solidFill>
                <a:ea typeface="Times New Roman"/>
                <a:cs typeface="Times New Roman"/>
              </a:rPr>
              <a:t>radio.available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()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Reads data with </a:t>
            </a:r>
            <a:r>
              <a:rPr sz="1200" b="1" i="0" u="none" dirty="0" err="1">
                <a:solidFill>
                  <a:srgbClr val="000000"/>
                </a:solidFill>
                <a:ea typeface="Times New Roman"/>
                <a:cs typeface="Times New Roman"/>
              </a:rPr>
              <a:t>radio.read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()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Extracts potentiometer value from received message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OLED displays: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“</a:t>
            </a:r>
            <a:r>
              <a:rPr sz="1200" b="1" i="0" u="none" dirty="0" err="1">
                <a:solidFill>
                  <a:srgbClr val="000000"/>
                </a:solidFill>
                <a:ea typeface="Times New Roman"/>
                <a:cs typeface="Times New Roman"/>
              </a:rPr>
              <a:t>Recv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: XXXX”</a:t>
            </a:r>
            <a:endParaRPr dirty="0"/>
          </a:p>
        </p:txBody>
      </p:sp>
      <p:pic>
        <p:nvPicPr>
          <p:cNvPr id="2087965436" name="Picture 208796543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690743" y="1325563"/>
            <a:ext cx="5563666" cy="312728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5C6990A-7164-3D64-714A-E7AF2803A1F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38809" y="0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1" algn="l">
              <a:lnSpc>
                <a:spcPct val="90000"/>
              </a:lnSpc>
              <a:defRPr/>
            </a:pPr>
            <a:r>
              <a:rPr lang="en-GB" sz="40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CFL09 : Half-</a:t>
            </a:r>
            <a:r>
              <a:rPr lang="en-US" sz="40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Duplex Wireless Communication Using NRF24L01</a:t>
            </a:r>
            <a:endParaRPr lang="en-GB" sz="4000" b="1" dirty="0">
              <a:solidFill>
                <a:srgbClr val="FF3300"/>
              </a:solidFill>
              <a:latin typeface="+mj-lt"/>
              <a:ea typeface="Calibri Light"/>
              <a:cs typeface="Calibri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8D35FD-BBD4-8B8E-1D9F-D44B0FD06A46}"/>
              </a:ext>
            </a:extLst>
          </p:cNvPr>
          <p:cNvSpPr txBox="1"/>
          <p:nvPr/>
        </p:nvSpPr>
        <p:spPr bwMode="auto">
          <a:xfrm>
            <a:off x="5521423" y="4876919"/>
            <a:ext cx="6403877" cy="1661993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 err="1"/>
              <a:t>Github</a:t>
            </a:r>
            <a:r>
              <a:rPr lang="en-GB" b="1" dirty="0"/>
              <a:t> Link for Code:</a:t>
            </a:r>
          </a:p>
          <a:p>
            <a:r>
              <a:rPr lang="en-GB" sz="1400" b="1" dirty="0"/>
              <a:t>(1). </a:t>
            </a:r>
            <a:r>
              <a:rPr lang="en-GB" sz="1400" b="1" dirty="0">
                <a:hlinkClick r:id="rId4"/>
              </a:rPr>
              <a:t>https://github.com/info-zas/Training/tree/main/GPREC/03_Communications/01_Code/03_Comm_Kit_NRF24L01_Transmitter_Encoder_Value</a:t>
            </a:r>
            <a:endParaRPr lang="en-GB" sz="1400" b="1" dirty="0"/>
          </a:p>
          <a:p>
            <a:r>
              <a:rPr lang="en-GB" sz="1400" b="1" dirty="0"/>
              <a:t>(2). </a:t>
            </a:r>
            <a:r>
              <a:rPr lang="en-GB" sz="1400" b="1" dirty="0">
                <a:hlinkClick r:id="rId5"/>
              </a:rPr>
              <a:t>https://github.com/info-zas/Training/tree/main/GPREC/03_Communications/01_Code/04_Comm_Kit_NRF24L01_Receiver_Encoder_Value</a:t>
            </a:r>
            <a:endParaRPr lang="en-GB" sz="1400" b="1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AAE633-81FD-B449-3B42-BFF162010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AD6500-2BF6-923D-10A9-D1056BB6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10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1900</TotalTime>
  <Words>626</Words>
  <Application>Microsoft Office PowerPoint</Application>
  <PresentationFormat>Widescreen</PresentationFormat>
  <Paragraphs>123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Communication Kit (Kit 3)</vt:lpstr>
      <vt:lpstr>Communication Kit : Contents</vt:lpstr>
      <vt:lpstr>Kit 3 Communication Creative Board - Features</vt:lpstr>
      <vt:lpstr>CFL09 : Half-Duplex Wireless Communication Using NRF24L01</vt:lpstr>
      <vt:lpstr>CFL09 : What is Simplex and Duplex Communication?</vt:lpstr>
      <vt:lpstr>CFL09 : Half-Duplex Communication Using NRF24L01</vt:lpstr>
      <vt:lpstr>CFL09 : Half-Duplex Communication Using NRF24L01</vt:lpstr>
      <vt:lpstr>PowerPoint Presentation</vt:lpstr>
      <vt:lpstr> CFL09 : Half-Duplex Wireless Communication Using NRF24L01 </vt:lpstr>
      <vt:lpstr>CFL09 : Half-Duplex Wireless Communication Using NRF24L01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55</cp:revision>
  <dcterms:created xsi:type="dcterms:W3CDTF">2025-12-15T19:48:42Z</dcterms:created>
  <dcterms:modified xsi:type="dcterms:W3CDTF">2026-01-07T13:54:10Z</dcterms:modified>
</cp:coreProperties>
</file>