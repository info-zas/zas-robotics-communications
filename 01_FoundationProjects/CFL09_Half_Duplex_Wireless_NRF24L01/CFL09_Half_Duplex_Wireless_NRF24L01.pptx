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561" r:id="rId3"/>
    <p:sldId id="260" r:id="rId4"/>
    <p:sldId id="257" r:id="rId5"/>
    <p:sldId id="562" r:id="rId6"/>
    <p:sldId id="563" r:id="rId7"/>
    <p:sldId id="564" r:id="rId8"/>
    <p:sldId id="270" r:id="rId9"/>
    <p:sldId id="565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zas-robotics-communications/blob/main/01_FoundationProjects/CFL09_Half_Duplex_Wireless_NRF24L01/CFL09_Half_Duplex_NRF24L01_ESP32_B/CFL09_Half_Duplex_NRF24L01_ESP32_B.ino" TargetMode="External"/><Relationship Id="rId4" Type="http://schemas.openxmlformats.org/officeDocument/2006/relationships/hyperlink" Target="https://github.com/info-zas/zas-robotics-communications/blob/main/01_FoundationProjects/CFL09_Half_Duplex_Wireless_NRF24L01/CFL09_Half_Duplex_NRF24L01_ESP32_A/CFL09_Half_Duplex_NRF24L01_ESP32_A.in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850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CFL09: Half-Duplex Wireless Communication Using NRF24L01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59D361-5077-CC01-08C6-FD27C4A5E3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388" y="3200400"/>
            <a:ext cx="3435835" cy="3155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Duplex Wireless Communication Using NRF24L01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0862" y="5011792"/>
            <a:ext cx="1295951" cy="12783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5BBE5E-D8C6-F4CD-49E2-964C0D5A7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929654" y="3499978"/>
            <a:ext cx="1597159" cy="1278397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C4470A-9C85-9124-D4FC-0720A7BA1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982585" y="3302111"/>
            <a:ext cx="1597159" cy="12783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2AE516-4384-34EA-8F8B-B65F9DD73B1F}"/>
              </a:ext>
            </a:extLst>
          </p:cNvPr>
          <p:cNvSpPr txBox="1"/>
          <p:nvPr/>
        </p:nvSpPr>
        <p:spPr>
          <a:xfrm>
            <a:off x="2209800" y="2603281"/>
            <a:ext cx="1497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ESP32-A: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4BF249-7BAF-B7D4-2E78-7323EF91D2C5}"/>
              </a:ext>
            </a:extLst>
          </p:cNvPr>
          <p:cNvSpPr txBox="1"/>
          <p:nvPr/>
        </p:nvSpPr>
        <p:spPr>
          <a:xfrm>
            <a:off x="8694388" y="2418615"/>
            <a:ext cx="1497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ESP32-B: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D7D4A98-ACC2-B9D1-3EE7-6FC9219D2261}"/>
              </a:ext>
            </a:extLst>
          </p:cNvPr>
          <p:cNvCxnSpPr/>
          <p:nvPr/>
        </p:nvCxnSpPr>
        <p:spPr>
          <a:xfrm>
            <a:off x="6758609" y="2186609"/>
            <a:ext cx="0" cy="435230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8CC77-426A-0665-FB25-C58F87DE6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What is Simplex and Duplex Communication?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CAAAE-4209-BA20-624F-17D6B6A7B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Communication in electronics can be:</a:t>
            </a:r>
          </a:p>
          <a:p>
            <a:pPr lvl="1"/>
            <a:r>
              <a:rPr lang="en-GB" b="1" dirty="0"/>
              <a:t>Simplex</a:t>
            </a:r>
            <a:r>
              <a:rPr lang="en-GB" dirty="0"/>
              <a:t>: One-way</a:t>
            </a:r>
          </a:p>
          <a:p>
            <a:pPr lvl="2"/>
            <a:r>
              <a:rPr lang="en-US" b="1" dirty="0"/>
              <a:t>Definition</a:t>
            </a:r>
            <a:r>
              <a:rPr lang="en-US" dirty="0"/>
              <a:t>: Data flows in only one direction</a:t>
            </a:r>
          </a:p>
          <a:p>
            <a:pPr lvl="2"/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ESP32-A sends sensor data</a:t>
            </a:r>
          </a:p>
          <a:p>
            <a:pPr lvl="2"/>
            <a:r>
              <a:rPr lang="en-US" dirty="0"/>
              <a:t>ESP32-B only receives</a:t>
            </a:r>
          </a:p>
          <a:p>
            <a:pPr lvl="2"/>
            <a:r>
              <a:rPr lang="en-GB" b="1" dirty="0"/>
              <a:t>Real-world analogy</a:t>
            </a:r>
            <a:r>
              <a:rPr lang="en-GB" dirty="0"/>
              <a:t>: TV broadcast</a:t>
            </a:r>
          </a:p>
          <a:p>
            <a:pPr lvl="1"/>
            <a:r>
              <a:rPr lang="en-US" b="1" dirty="0"/>
              <a:t>Duplex</a:t>
            </a:r>
            <a:r>
              <a:rPr lang="en-US" dirty="0"/>
              <a:t>: Two-way (Half or Full)</a:t>
            </a:r>
          </a:p>
          <a:p>
            <a:pPr lvl="2"/>
            <a:r>
              <a:rPr lang="en-US" b="1" dirty="0"/>
              <a:t>Definition</a:t>
            </a:r>
            <a:r>
              <a:rPr lang="en-US" dirty="0"/>
              <a:t>: Data flows in both directions</a:t>
            </a:r>
          </a:p>
          <a:p>
            <a:pPr lvl="2"/>
            <a:r>
              <a:rPr lang="en-US" b="1" dirty="0"/>
              <a:t>Types</a:t>
            </a:r>
            <a:r>
              <a:rPr lang="en-US" dirty="0"/>
              <a:t>:</a:t>
            </a:r>
          </a:p>
          <a:p>
            <a:pPr lvl="2"/>
            <a:r>
              <a:rPr lang="en-US" b="1" u="sng" dirty="0"/>
              <a:t>Half-Duplex</a:t>
            </a:r>
            <a:r>
              <a:rPr lang="en-US" u="sng" dirty="0"/>
              <a:t>: </a:t>
            </a:r>
            <a:r>
              <a:rPr lang="en-US" dirty="0"/>
              <a:t>One direction at a time (walkie-talkie)</a:t>
            </a:r>
          </a:p>
          <a:p>
            <a:pPr lvl="2"/>
            <a:r>
              <a:rPr lang="en-US" b="1" dirty="0"/>
              <a:t>Full-Duplex</a:t>
            </a:r>
            <a:r>
              <a:rPr lang="en-US" dirty="0"/>
              <a:t>: Both directions at the same time (phone call)</a:t>
            </a:r>
            <a:r>
              <a:rPr lang="en-US" b="1" dirty="0"/>
              <a:t> </a:t>
            </a:r>
          </a:p>
          <a:p>
            <a:pPr lvl="1"/>
            <a:r>
              <a:rPr lang="en-US" b="1" u="sng" dirty="0"/>
              <a:t>In Microcontrollers:</a:t>
            </a:r>
            <a:r>
              <a:rPr lang="en-US" u="sng" dirty="0"/>
              <a:t> Usually implement </a:t>
            </a:r>
            <a:r>
              <a:rPr lang="en-US" b="1" u="sng" dirty="0"/>
              <a:t>Half-Duplex</a:t>
            </a:r>
            <a:endParaRPr lang="en-US" u="sng" dirty="0"/>
          </a:p>
          <a:p>
            <a:pPr lvl="4"/>
            <a:endParaRPr lang="en-US" dirty="0"/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719E2-D791-0210-01B8-F1113195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0C779-91BE-9A26-9441-92CFCAC34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61F19542-F1F5-1C75-5323-E54A82EC7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471" y="3170137"/>
            <a:ext cx="2331922" cy="655377"/>
          </a:xfrm>
          <a:prstGeom prst="rect">
            <a:avLst/>
          </a:prstGeom>
        </p:spPr>
      </p:pic>
      <p:pic>
        <p:nvPicPr>
          <p:cNvPr id="10" name="Picture 9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5CEF691F-B09A-21E3-1B54-5244B7E25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432" y="4536378"/>
            <a:ext cx="2834886" cy="929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F6746B-48E1-5FEE-EADA-65389C98347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676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9A228-6CE8-09E3-C124-84B101A95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Half-Duplex Communication Using NRF24L01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1C1A0-FF33-7C14-D0D6-94B40E2D0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NRF24L01 allows duplex communication using:</a:t>
            </a:r>
          </a:p>
          <a:p>
            <a:pPr lvl="1"/>
            <a:r>
              <a:rPr lang="en-GB" dirty="0" err="1"/>
              <a:t>radio.stopListening</a:t>
            </a:r>
            <a:r>
              <a:rPr lang="en-GB" dirty="0"/>
              <a:t>(); to send</a:t>
            </a:r>
          </a:p>
          <a:p>
            <a:pPr lvl="1"/>
            <a:r>
              <a:rPr lang="en-GB" dirty="0" err="1"/>
              <a:t>radio.startListening</a:t>
            </a:r>
            <a:r>
              <a:rPr lang="en-GB" dirty="0"/>
              <a:t>(); to receive</a:t>
            </a:r>
          </a:p>
          <a:p>
            <a:pPr lvl="1"/>
            <a:endParaRPr lang="en-GB" dirty="0"/>
          </a:p>
          <a:p>
            <a:r>
              <a:rPr lang="en-US" dirty="0"/>
              <a:t>You alternate between sending and receiving (Half-Duplex)</a:t>
            </a:r>
          </a:p>
          <a:p>
            <a:endParaRPr lang="en-US" dirty="0"/>
          </a:p>
          <a:p>
            <a:pPr lvl="1"/>
            <a:r>
              <a:rPr lang="en-US" b="1" dirty="0"/>
              <a:t>Example Flow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ESP32-A sends data</a:t>
            </a:r>
          </a:p>
          <a:p>
            <a:pPr lvl="1"/>
            <a:r>
              <a:rPr lang="en-US" dirty="0"/>
              <a:t>ESP32-B receives it</a:t>
            </a:r>
          </a:p>
          <a:p>
            <a:pPr lvl="1"/>
            <a:r>
              <a:rPr lang="en-US" dirty="0"/>
              <a:t>ESP32-B replies</a:t>
            </a:r>
          </a:p>
          <a:p>
            <a:pPr lvl="1"/>
            <a:r>
              <a:rPr lang="en-US" dirty="0"/>
              <a:t>ESP32-A receives reply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A233B-427E-37D3-B811-868B75B9E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A046-F01A-0057-A624-05184D0A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242DF4-45CC-DC48-1362-7AE7D60E8E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0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344CB-4C37-013D-7EC2-BFCD377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Half-Duplex Communication Using NRF24L01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C8069-DC50-4F5B-6B34-837C01C32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ESP32-A:</a:t>
            </a:r>
          </a:p>
          <a:p>
            <a:r>
              <a:rPr lang="en-US" b="1" dirty="0"/>
              <a:t>Potentiometer</a:t>
            </a:r>
            <a:r>
              <a:rPr lang="en-US" dirty="0"/>
              <a:t> controls a value (e.g., "speed" or "brightness")</a:t>
            </a:r>
          </a:p>
          <a:p>
            <a:r>
              <a:rPr lang="en-US" dirty="0"/>
              <a:t>When </a:t>
            </a:r>
            <a:r>
              <a:rPr lang="en-US" b="1" dirty="0"/>
              <a:t>pushbutton (pin 25)</a:t>
            </a:r>
            <a:r>
              <a:rPr lang="en-US" dirty="0"/>
              <a:t> is pressed:</a:t>
            </a:r>
          </a:p>
          <a:p>
            <a:pPr lvl="1"/>
            <a:r>
              <a:rPr lang="en-US" dirty="0"/>
              <a:t>Sends a message: "Pot: 3780, Enc: 12"</a:t>
            </a:r>
          </a:p>
          <a:p>
            <a:pPr lvl="1"/>
            <a:r>
              <a:rPr lang="en-US" dirty="0"/>
              <a:t>Receiver ESP32-B turns </a:t>
            </a:r>
            <a:r>
              <a:rPr lang="en-US" b="1" dirty="0"/>
              <a:t>LED ON</a:t>
            </a:r>
            <a:r>
              <a:rPr lang="en-US" dirty="0"/>
              <a:t> if pot &gt; 3000</a:t>
            </a:r>
          </a:p>
          <a:p>
            <a:r>
              <a:rPr lang="en-US" b="1" dirty="0"/>
              <a:t>ESP32-B:</a:t>
            </a:r>
          </a:p>
          <a:p>
            <a:r>
              <a:rPr lang="en-US" dirty="0"/>
              <a:t>Receives data</a:t>
            </a:r>
          </a:p>
          <a:p>
            <a:r>
              <a:rPr lang="en-US" dirty="0"/>
              <a:t>Displays Pot and Enc values on OLED</a:t>
            </a:r>
          </a:p>
          <a:p>
            <a:r>
              <a:rPr lang="en-US" dirty="0"/>
              <a:t>If pot &gt; 3000:</a:t>
            </a:r>
          </a:p>
          <a:p>
            <a:pPr lvl="1"/>
            <a:r>
              <a:rPr lang="en-US" dirty="0"/>
              <a:t>Turns ON </a:t>
            </a:r>
            <a:r>
              <a:rPr lang="en-US" b="1" dirty="0"/>
              <a:t>LED and buzzer</a:t>
            </a:r>
            <a:endParaRPr lang="en-US" dirty="0"/>
          </a:p>
          <a:p>
            <a:r>
              <a:rPr lang="en-US" dirty="0"/>
              <a:t>Then sends back </a:t>
            </a:r>
            <a:r>
              <a:rPr lang="en-US" b="1" dirty="0"/>
              <a:t>confirmation message</a:t>
            </a:r>
            <a:r>
              <a:rPr lang="en-US" dirty="0"/>
              <a:t>: "Received, LED ON“</a:t>
            </a:r>
          </a:p>
          <a:p>
            <a:r>
              <a:rPr lang="en-US" b="1" dirty="0"/>
              <a:t>ESP32-A:</a:t>
            </a:r>
          </a:p>
          <a:p>
            <a:r>
              <a:rPr lang="en-US" dirty="0"/>
              <a:t>Receives the confirmation</a:t>
            </a:r>
          </a:p>
          <a:p>
            <a:r>
              <a:rPr lang="en-US" dirty="0"/>
              <a:t>Displays ACK on OLED</a:t>
            </a:r>
          </a:p>
          <a:p>
            <a:pPr marL="0" indent="0">
              <a:buNone/>
            </a:pPr>
            <a:endParaRPr lang="en-US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20B5E-A21A-1BCC-755F-6F54B6E7E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C04DE-8FE3-0E2F-3D59-E8609D66F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DF8F41-E85C-A166-B05A-09655E306BD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764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GB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</a:t>
            </a: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Duplex Wireless Communication Using NRF24L01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8</a:t>
            </a:fld>
            <a:endParaRPr lang="en-GB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9B9F5CB-6E61-7BCD-5FFD-5B01FF746F20}"/>
              </a:ext>
            </a:extLst>
          </p:cNvPr>
          <p:cNvSpPr/>
          <p:nvPr/>
        </p:nvSpPr>
        <p:spPr>
          <a:xfrm>
            <a:off x="5879690" y="2851355"/>
            <a:ext cx="894201" cy="2552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01DA46C-59B6-01E3-7FF2-43327813F492}"/>
              </a:ext>
            </a:extLst>
          </p:cNvPr>
          <p:cNvSpPr/>
          <p:nvPr/>
        </p:nvSpPr>
        <p:spPr>
          <a:xfrm flipH="1">
            <a:off x="5871851" y="4335625"/>
            <a:ext cx="753098" cy="2552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B06F3A-7D2F-7AF4-5BD2-E4F62A052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CD46-7EF7-605A-C40E-9C1B22E17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Duplex Wireless Communication Using NRF24L01</a:t>
            </a:r>
            <a:br>
              <a:rPr lang="en-GB" b="1" dirty="0">
                <a:solidFill>
                  <a:srgbClr val="FF3300"/>
                </a:solidFill>
                <a:ea typeface="Calibri Light"/>
                <a:cs typeface="Calibri Light"/>
              </a:rPr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19F2D-A37C-1E49-FCA3-3C8D336DB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E06E74-7B0E-D9F5-137F-6C5EBFCD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9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BBA654-DCF7-57C9-0896-484D7B964C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877812" y="-321469"/>
            <a:ext cx="3523628" cy="829088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350BD065-785A-0A2B-2214-6CF8FE34AF32}"/>
              </a:ext>
            </a:extLst>
          </p:cNvPr>
          <p:cNvSpPr/>
          <p:nvPr/>
        </p:nvSpPr>
        <p:spPr>
          <a:xfrm>
            <a:off x="5352916" y="3173761"/>
            <a:ext cx="894201" cy="2552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530730-C1AC-581B-CEEE-C3E14BFE975B}"/>
              </a:ext>
            </a:extLst>
          </p:cNvPr>
          <p:cNvSpPr/>
          <p:nvPr/>
        </p:nvSpPr>
        <p:spPr>
          <a:xfrm flipH="1">
            <a:off x="5345077" y="4658031"/>
            <a:ext cx="753098" cy="2552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322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453060" y="1203736"/>
            <a:ext cx="4925186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– Transmitter &amp; Receiver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1. Setup Transmitter &amp; Receiver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Configure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+ NRF24L01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on SPI pins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Connect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feedback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Set matching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radio address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TX/RX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2. NRF24 Communication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Transmitter Side (TX)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reads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potentiometer value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Formats message as: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PotValue:XXXX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Sends packet using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@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(32-byte payload)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shows: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“Sent: XXXX”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Uses SPI pins (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CE, CSN, SCK, MOSI, MISO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)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 Wireless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Short-range,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high-speed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radio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Ideal for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robot-to-robot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, remote sensors, wireless controllers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auto-acknowledge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Supports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multiple nodes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via unique radio addresses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Receiver Side (RX)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detects packets using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radio.available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Reads data with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radio.read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Extracts potentiometer value from received message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Recv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: XXXX”</a:t>
            </a:r>
            <a:endParaRPr dirty="0"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90743" y="132556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Half-</a:t>
            </a: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Duplex Wireless Communication Using NRF24L01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5521423" y="4876919"/>
            <a:ext cx="6403877" cy="175432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b="1" dirty="0" err="1"/>
              <a:t>Github</a:t>
            </a:r>
            <a:r>
              <a:rPr lang="en-GB" sz="1200" b="1" dirty="0"/>
              <a:t> Link for Code:</a:t>
            </a:r>
          </a:p>
          <a:p>
            <a:r>
              <a:rPr lang="en-GB" sz="1200" b="1" dirty="0">
                <a:hlinkClick r:id="rId4"/>
              </a:rPr>
              <a:t>https://github.com/info-zas/zas-robotics-communications/blob/main/01_FoundationProjects/CFL09_Half_Duplex_Wireless_NRF24L01/CFL09_Half_Duplex_NRF24L01_ESP32_A/CFL09_Half_Duplex_NRF24L01_ESP32_A.ino</a:t>
            </a:r>
            <a:endParaRPr lang="en-GB" sz="1200" b="1" dirty="0"/>
          </a:p>
          <a:p>
            <a:endParaRPr lang="en-GB" sz="1200" b="1" dirty="0"/>
          </a:p>
          <a:p>
            <a:r>
              <a:rPr lang="en-GB" sz="1200" b="1" dirty="0">
                <a:hlinkClick r:id="rId5"/>
              </a:rPr>
              <a:t>https://github.com/info-zas/zas-robotics-communications/blob/main/01_FoundationProjects/CFL09_Half_Duplex_Wireless_NRF24L01/CFL09_Half_Duplex_NRF24L01_ESP32_B/CFL09_Half_Duplex_NRF24L01_ESP32_B.ino</a:t>
            </a:r>
            <a:endParaRPr lang="en-GB" sz="1200" b="1" dirty="0"/>
          </a:p>
          <a:p>
            <a:endParaRPr lang="en-GB" sz="1200" b="1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AAE633-81FD-B449-3B42-BFF162010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D6500-2BF6-923D-10A9-D1056BB6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652</Words>
  <Application>Microsoft Office PowerPoint</Application>
  <PresentationFormat>Widescreen</PresentationFormat>
  <Paragraphs>124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Communication Kit (Kit 3)</vt:lpstr>
      <vt:lpstr>Communication Kit : Contents</vt:lpstr>
      <vt:lpstr>Kit 3 Communication Creative Board - Features</vt:lpstr>
      <vt:lpstr>CFL09 : Half-Duplex Wireless Communication Using NRF24L01</vt:lpstr>
      <vt:lpstr>CFL09 : What is Simplex and Duplex Communication?</vt:lpstr>
      <vt:lpstr>CFL09 : Half-Duplex Communication Using NRF24L01</vt:lpstr>
      <vt:lpstr>CFL09 : Half-Duplex Communication Using NRF24L01</vt:lpstr>
      <vt:lpstr>PowerPoint Presentation</vt:lpstr>
      <vt:lpstr> CFL09 : Half-Duplex Wireless Communication Using NRF24L01 </vt:lpstr>
      <vt:lpstr>CFL09 : Half-Duplex Wireless Communication Using NRF24L01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57</cp:revision>
  <dcterms:created xsi:type="dcterms:W3CDTF">2025-12-15T19:48:42Z</dcterms:created>
  <dcterms:modified xsi:type="dcterms:W3CDTF">2026-01-07T22:47:21Z</dcterms:modified>
</cp:coreProperties>
</file>