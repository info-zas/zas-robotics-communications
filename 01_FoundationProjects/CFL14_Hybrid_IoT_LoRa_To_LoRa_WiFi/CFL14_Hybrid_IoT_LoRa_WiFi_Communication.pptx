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561" r:id="rId3"/>
    <p:sldId id="260" r:id="rId4"/>
    <p:sldId id="568" r:id="rId5"/>
    <p:sldId id="567" r:id="rId6"/>
    <p:sldId id="565" r:id="rId7"/>
    <p:sldId id="5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77" d="100"/>
          <a:sy n="77" d="100"/>
        </p:scale>
        <p:origin x="68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communications/blob/main/01_FoundationProjects/CFL14_Hybrid_IoT_LoRa_To_LoRa_WiFi/CFL14_Lora_DHT11_Sender/CFL14_Lora_DHT11_Sender.in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communications/blob/main/01_FoundationProjects/CFL14_Hybrid_IoT_LoRa_To_LoRa_WiFi/CFL14_Lora_DHT11_Receiver_And_WiFi_Bridge/CFL14_Lora_DHT11_Receiver_And_WiFi_Bridge.i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416" y="3688774"/>
            <a:ext cx="10351168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CFL14: Hybrid Relay (LoRa-IoT) Communication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39A895-87BD-C9DB-DA15-F29DE94E38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388" y="3200400"/>
            <a:ext cx="3435835" cy="3155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CFL14: Hybrid Relay (LoRa-IoT) Communication</a:t>
            </a:r>
            <a:br>
              <a:rPr lang="en-GB" b="1" dirty="0">
                <a:solidFill>
                  <a:srgbClr val="7030A0"/>
                </a:solidFill>
              </a:rPr>
            </a:b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862" y="5011792"/>
            <a:ext cx="1295951" cy="1278398"/>
          </a:xfrm>
          <a:prstGeom prst="rect">
            <a:avLst/>
          </a:prstGeom>
        </p:spPr>
      </p:pic>
      <p:pic>
        <p:nvPicPr>
          <p:cNvPr id="6" name="Picture 5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D321BE0E-850B-DA08-7A4D-3D7C44E6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89" y="3389035"/>
            <a:ext cx="3435835" cy="3155950"/>
          </a:xfrm>
          <a:prstGeom prst="rect">
            <a:avLst/>
          </a:prstGeom>
        </p:spPr>
      </p:pic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A058AC05-157D-D0B6-D4A2-36B88D177A48}"/>
              </a:ext>
            </a:extLst>
          </p:cNvPr>
          <p:cNvSpPr txBox="1">
            <a:spLocks/>
          </p:cNvSpPr>
          <p:nvPr/>
        </p:nvSpPr>
        <p:spPr>
          <a:xfrm>
            <a:off x="2706171" y="84198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F5A6A5-3841-4FBA-B455-67883EB3171A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0" name="Picture 9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8E0F1F09-D256-CC2C-5A02-49D672144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933" y="4870173"/>
            <a:ext cx="1583078" cy="15616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2AE516-4384-34EA-8F8B-B65F9DD73B1F}"/>
              </a:ext>
            </a:extLst>
          </p:cNvPr>
          <p:cNvSpPr txBox="1"/>
          <p:nvPr/>
        </p:nvSpPr>
        <p:spPr>
          <a:xfrm>
            <a:off x="2209799" y="2603281"/>
            <a:ext cx="2696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LoRa Transmitter: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4BF249-7BAF-B7D4-2E78-7323EF91D2C5}"/>
              </a:ext>
            </a:extLst>
          </p:cNvPr>
          <p:cNvSpPr txBox="1"/>
          <p:nvPr/>
        </p:nvSpPr>
        <p:spPr>
          <a:xfrm>
            <a:off x="8694387" y="2418615"/>
            <a:ext cx="2132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LoRa Receiver: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7D4A98-ACC2-B9D1-3EE7-6FC9219D2261}"/>
              </a:ext>
            </a:extLst>
          </p:cNvPr>
          <p:cNvCxnSpPr/>
          <p:nvPr/>
        </p:nvCxnSpPr>
        <p:spPr>
          <a:xfrm>
            <a:off x="6758609" y="2186609"/>
            <a:ext cx="0" cy="43523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12B6B0-321F-F9A2-EAB2-356A92E80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90" y="3043106"/>
            <a:ext cx="1685014" cy="1557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A39225-5FF0-7E73-3F8A-01CD45120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412" y="3043106"/>
            <a:ext cx="1685014" cy="15573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11D7D6-C2C4-6DD4-9AC3-BBBC63B4B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248164" y="4977413"/>
            <a:ext cx="1633833" cy="10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2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9373-B76F-7B3E-0BE4-7B8C75B4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CFL14: Hybrid Relay (LoRa-IoT) Communication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7066B-0271-9C05-BD42-601DBBFE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66B6A-642E-1C76-4A95-A24401F7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8A659E-ECDE-0462-9664-B402670A7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37066"/>
              </p:ext>
            </p:extLst>
          </p:nvPr>
        </p:nvGraphicFramePr>
        <p:xfrm>
          <a:off x="1099931" y="2961861"/>
          <a:ext cx="28425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296">
                  <a:extLst>
                    <a:ext uri="{9D8B030D-6E8A-4147-A177-3AD203B41FA5}">
                      <a16:colId xmlns:a16="http://schemas.microsoft.com/office/drawing/2014/main" val="1233141021"/>
                    </a:ext>
                  </a:extLst>
                </a:gridCol>
                <a:gridCol w="1421296">
                  <a:extLst>
                    <a:ext uri="{9D8B030D-6E8A-4147-A177-3AD203B41FA5}">
                      <a16:colId xmlns:a16="http://schemas.microsoft.com/office/drawing/2014/main" val="3696644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DHT11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ESP32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58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57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9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52587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CCFE015-9526-C62B-6453-814B872E8F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A6098A-EFFD-130E-1738-F5F0659C1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43587" y="594519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2F0A-E788-E54D-AF75-5C15727E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CFL14: Hybrid Relay (LoRa-IoT) Communication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D9560-5E61-CB24-D556-8DF88C95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31C58-DC0F-C37A-0E6D-4DA21744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9210F3-4101-CC49-B66F-AD0C1089B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25" y="2015306"/>
            <a:ext cx="3171643" cy="335949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B523EE-5FC4-EF1B-4DFE-8C44CA802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031" y="2055812"/>
            <a:ext cx="3171643" cy="359401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C69E1F-E48C-AE50-731F-65BBDAE0E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010" y="2424557"/>
            <a:ext cx="3302765" cy="295024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34FF511-5341-EE91-696C-23245D398C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36C2D6AD-8313-C9C5-49E9-F20A070A92C2}"/>
              </a:ext>
            </a:extLst>
          </p:cNvPr>
          <p:cNvSpPr/>
          <p:nvPr/>
        </p:nvSpPr>
        <p:spPr>
          <a:xfrm>
            <a:off x="3478696" y="3694632"/>
            <a:ext cx="974034" cy="5593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LoRa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50B5CDE-2D3B-DEBC-A581-46CEC36FA2C5}"/>
              </a:ext>
            </a:extLst>
          </p:cNvPr>
          <p:cNvSpPr/>
          <p:nvPr/>
        </p:nvSpPr>
        <p:spPr>
          <a:xfrm>
            <a:off x="7726976" y="3573162"/>
            <a:ext cx="974034" cy="5593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WiFi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289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38479-ED1B-1ABC-554E-F9B054C9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CFL14: Hybrid Relay (LoRa-IoT) Communication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1879-1C35-A695-C677-B1F8AFC1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E3005-A0FD-D946-286B-D39DF0A4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F35602-28A3-156D-4BB5-CEFB6837BD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4E1284-4F4C-D5D7-8543-13CD0E8677A2}"/>
              </a:ext>
            </a:extLst>
          </p:cNvPr>
          <p:cNvSpPr txBox="1"/>
          <p:nvPr/>
        </p:nvSpPr>
        <p:spPr>
          <a:xfrm>
            <a:off x="1050649" y="1606971"/>
            <a:ext cx="5061502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setup()</a:t>
            </a:r>
          </a:p>
          <a:p>
            <a:r>
              <a:rPr lang="en-GB" dirty="0"/>
              <a:t>    • Start Serial communication</a:t>
            </a:r>
          </a:p>
          <a:p>
            <a:r>
              <a:rPr lang="en-GB" dirty="0"/>
              <a:t>    • Initialize DHT11 temperature sensor</a:t>
            </a:r>
          </a:p>
          <a:p>
            <a:r>
              <a:rPr lang="en-GB" dirty="0"/>
              <a:t>    • Configure LoRa pins and start LoRa at 433 MHz</a:t>
            </a:r>
          </a:p>
          <a:p>
            <a:r>
              <a:rPr lang="en-GB" dirty="0"/>
              <a:t>    • Print “LoRa Sender Ready”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85FCAA-4E11-FC67-6F40-1FB4C22786D8}"/>
              </a:ext>
            </a:extLst>
          </p:cNvPr>
          <p:cNvSpPr txBox="1"/>
          <p:nvPr/>
        </p:nvSpPr>
        <p:spPr>
          <a:xfrm>
            <a:off x="1050649" y="3084299"/>
            <a:ext cx="5061502" cy="17543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/>
              <a:t>loop()</a:t>
            </a:r>
          </a:p>
          <a:p>
            <a:r>
              <a:rPr lang="en-GB" dirty="0"/>
              <a:t>    • Read temperature from DHT11</a:t>
            </a:r>
          </a:p>
          <a:p>
            <a:r>
              <a:rPr lang="en-GB" dirty="0"/>
              <a:t>    • If sensor read fails → print error and retry</a:t>
            </a:r>
          </a:p>
          <a:p>
            <a:r>
              <a:rPr lang="en-GB" dirty="0"/>
              <a:t>    • Print temperature value to Serial Monitor</a:t>
            </a:r>
          </a:p>
          <a:p>
            <a:r>
              <a:rPr lang="en-GB" dirty="0"/>
              <a:t>    • Send the temperature value as a LoRa packet</a:t>
            </a:r>
          </a:p>
          <a:p>
            <a:r>
              <a:rPr lang="en-GB" dirty="0"/>
              <a:t>    • Wait 3 seconds before sending the next reading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92AC67-828E-F8AC-9FE6-9DF3F91D3664}"/>
              </a:ext>
            </a:extLst>
          </p:cNvPr>
          <p:cNvSpPr txBox="1"/>
          <p:nvPr/>
        </p:nvSpPr>
        <p:spPr>
          <a:xfrm>
            <a:off x="6249228" y="1606971"/>
            <a:ext cx="5518702" cy="17543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/>
              <a:t>setup()</a:t>
            </a:r>
          </a:p>
          <a:p>
            <a:r>
              <a:rPr lang="en-GB" dirty="0"/>
              <a:t>    • Connect ESP32 to </a:t>
            </a:r>
            <a:r>
              <a:rPr lang="en-GB" dirty="0" err="1"/>
              <a:t>WiFi</a:t>
            </a:r>
            <a:r>
              <a:rPr lang="en-GB" dirty="0"/>
              <a:t> network (STA mode)</a:t>
            </a:r>
          </a:p>
          <a:p>
            <a:r>
              <a:rPr lang="en-GB" dirty="0"/>
              <a:t>    • Start an HTTP server on port 80</a:t>
            </a:r>
          </a:p>
          <a:p>
            <a:r>
              <a:rPr lang="en-GB" dirty="0"/>
              <a:t>    • Create webpage handler to display LoRa temperature</a:t>
            </a:r>
          </a:p>
          <a:p>
            <a:r>
              <a:rPr lang="en-GB" dirty="0"/>
              <a:t>    • Initialize LoRa receiver at 433 MHz</a:t>
            </a:r>
          </a:p>
          <a:p>
            <a:r>
              <a:rPr lang="en-GB" dirty="0"/>
              <a:t>    • Print IP address and "LoRa Receiver Ready"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B482A1-E41F-4CC0-11C6-32D2930948A5}"/>
              </a:ext>
            </a:extLst>
          </p:cNvPr>
          <p:cNvSpPr txBox="1"/>
          <p:nvPr/>
        </p:nvSpPr>
        <p:spPr>
          <a:xfrm>
            <a:off x="6259167" y="3361297"/>
            <a:ext cx="5518702" cy="23083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/>
              <a:t>loop()</a:t>
            </a:r>
          </a:p>
          <a:p>
            <a:r>
              <a:rPr lang="en-GB" dirty="0"/>
              <a:t>    • Handle incoming web browser requests</a:t>
            </a:r>
          </a:p>
          <a:p>
            <a:r>
              <a:rPr lang="en-GB" dirty="0"/>
              <a:t>    • Check for LoRa packets</a:t>
            </a:r>
          </a:p>
          <a:p>
            <a:r>
              <a:rPr lang="en-GB" dirty="0"/>
              <a:t>    • If a LoRa packet arrives:</a:t>
            </a:r>
          </a:p>
          <a:p>
            <a:r>
              <a:rPr lang="en-GB" dirty="0"/>
              <a:t>          - Read the temperature string</a:t>
            </a:r>
          </a:p>
          <a:p>
            <a:r>
              <a:rPr lang="en-GB" dirty="0"/>
              <a:t>          - Convert to float and store in </a:t>
            </a:r>
            <a:r>
              <a:rPr lang="en-GB" dirty="0" err="1"/>
              <a:t>loraTemperature</a:t>
            </a:r>
            <a:endParaRPr lang="en-GB" dirty="0"/>
          </a:p>
          <a:p>
            <a:r>
              <a:rPr lang="en-GB" dirty="0"/>
              <a:t>          - Print value on Serial Monitor</a:t>
            </a:r>
          </a:p>
          <a:p>
            <a:r>
              <a:rPr lang="en-GB" dirty="0"/>
              <a:t>    • Small delay to allow </a:t>
            </a:r>
            <a:r>
              <a:rPr lang="en-GB" dirty="0" err="1"/>
              <a:t>WiFi</a:t>
            </a:r>
            <a:r>
              <a:rPr lang="en-GB" dirty="0"/>
              <a:t> tasks to run properly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4A5188-3F64-4F92-DBB5-BC9D452A17E9}"/>
              </a:ext>
            </a:extLst>
          </p:cNvPr>
          <p:cNvSpPr txBox="1"/>
          <p:nvPr/>
        </p:nvSpPr>
        <p:spPr>
          <a:xfrm>
            <a:off x="6438072" y="1237639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LoRa Temperature Receiver + </a:t>
            </a:r>
            <a:r>
              <a:rPr lang="en-US" b="1" dirty="0" err="1">
                <a:solidFill>
                  <a:srgbClr val="00B0F0"/>
                </a:solidFill>
              </a:rPr>
              <a:t>WiFi</a:t>
            </a:r>
            <a:r>
              <a:rPr lang="en-US" b="1" dirty="0">
                <a:solidFill>
                  <a:srgbClr val="00B0F0"/>
                </a:solidFill>
              </a:rPr>
              <a:t> Web Dashboard</a:t>
            </a:r>
            <a:endParaRPr lang="en-GB" b="1" dirty="0">
              <a:solidFill>
                <a:srgbClr val="00B0F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F16233-96C3-A081-4D08-81EAB2CC7A61}"/>
              </a:ext>
            </a:extLst>
          </p:cNvPr>
          <p:cNvSpPr txBox="1"/>
          <p:nvPr/>
        </p:nvSpPr>
        <p:spPr>
          <a:xfrm>
            <a:off x="916884" y="1279498"/>
            <a:ext cx="6266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B0F0"/>
                </a:solidFill>
              </a:defRPr>
            </a:lvl1pPr>
          </a:lstStyle>
          <a:p>
            <a:r>
              <a:rPr lang="it-IT" dirty="0" err="1"/>
              <a:t>LoRa</a:t>
            </a:r>
            <a:r>
              <a:rPr lang="it-IT" dirty="0"/>
              <a:t> Temperature </a:t>
            </a:r>
            <a:r>
              <a:rPr lang="it-IT" dirty="0" err="1"/>
              <a:t>Sender</a:t>
            </a:r>
            <a:r>
              <a:rPr lang="it-IT" dirty="0"/>
              <a:t> (DHT11 → </a:t>
            </a:r>
            <a:r>
              <a:rPr lang="it-IT" dirty="0" err="1"/>
              <a:t>LoRa</a:t>
            </a:r>
            <a:r>
              <a:rPr lang="it-IT" dirty="0"/>
              <a:t> TX)</a:t>
            </a:r>
            <a:endParaRPr lang="en-GB" dirty="0"/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ACEAF707-618F-236C-6E7E-A29776A2A208}"/>
              </a:ext>
            </a:extLst>
          </p:cNvPr>
          <p:cNvSpPr txBox="1"/>
          <p:nvPr/>
        </p:nvSpPr>
        <p:spPr bwMode="auto">
          <a:xfrm>
            <a:off x="684972" y="4957895"/>
            <a:ext cx="5411028" cy="212365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200" b="1" dirty="0"/>
              <a:t>Code for Lesson CFL14 (</a:t>
            </a:r>
            <a:r>
              <a:rPr lang="fr-FR" sz="1200" b="1" dirty="0"/>
              <a:t>CFL14_Lora_DHT11_Sender</a:t>
            </a:r>
            <a:r>
              <a:rPr lang="en-GB" sz="1200" b="1" dirty="0"/>
              <a:t>.ino)</a:t>
            </a:r>
          </a:p>
          <a:p>
            <a:pPr>
              <a:defRPr/>
            </a:pPr>
            <a:r>
              <a:rPr lang="en-US" sz="1200" b="1" dirty="0"/>
              <a:t>(CFL14_Lora_DHT11_Receiver_And_WiFi_Bridge.ino)</a:t>
            </a:r>
          </a:p>
          <a:p>
            <a:pPr>
              <a:defRPr/>
            </a:pPr>
            <a:r>
              <a:rPr lang="en-US" sz="1200" b="1" dirty="0">
                <a:hlinkClick r:id="rId3"/>
              </a:rPr>
              <a:t>https://github.com/info-zas/zas-robotics-communications/blob/main/01_FoundationProjects/CFL14_Hybrid_IoT_LoRa_To_LoRa_WiFi/CFL14_Lora_DHT11_Sender/CFL14_Lora_DHT11_Sender.ino</a:t>
            </a:r>
            <a:endParaRPr lang="en-US" sz="1200" b="1" dirty="0"/>
          </a:p>
          <a:p>
            <a:pPr>
              <a:defRPr/>
            </a:pPr>
            <a:endParaRPr lang="en-US" sz="1200" b="1" dirty="0"/>
          </a:p>
          <a:p>
            <a:pPr>
              <a:defRPr/>
            </a:pPr>
            <a:r>
              <a:rPr lang="en-US" sz="1200" b="1" dirty="0">
                <a:hlinkClick r:id="rId4"/>
              </a:rPr>
              <a:t>https://github.com/info-zas/zas-robotics-communications/blob/main/01_FoundationProjects/CFL14_Hybrid_IoT_LoRa_To_LoRa_WiFi/CFL14_Lora_DHT11_Receiver_And_WiFi_Bridge/CFL14_Lora_DHT11_Receiver_And_WiFi_Bridge.ino</a:t>
            </a:r>
            <a:endParaRPr lang="en-US" sz="1200" b="1" dirty="0"/>
          </a:p>
          <a:p>
            <a:pPr>
              <a:defRPr/>
            </a:pP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583472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501</Words>
  <Application>Microsoft Office PowerPoint</Application>
  <PresentationFormat>Widescreen</PresentationFormat>
  <Paragraphs>89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Communication Kit (Kit 3)</vt:lpstr>
      <vt:lpstr>Communication Kit : Contents</vt:lpstr>
      <vt:lpstr>Kit 3 Communication Creative Board - Features</vt:lpstr>
      <vt:lpstr> CFL14: Hybrid Relay (LoRa-IoT) Communication </vt:lpstr>
      <vt:lpstr>CFL14: Hybrid Relay (LoRa-IoT) Communication</vt:lpstr>
      <vt:lpstr>CFL14: Hybrid Relay (LoRa-IoT) Communication</vt:lpstr>
      <vt:lpstr>CFL14: Hybrid Relay (LoRa-IoT)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67</cp:revision>
  <dcterms:created xsi:type="dcterms:W3CDTF">2025-12-15T19:48:42Z</dcterms:created>
  <dcterms:modified xsi:type="dcterms:W3CDTF">2026-01-07T23:05:11Z</dcterms:modified>
</cp:coreProperties>
</file>