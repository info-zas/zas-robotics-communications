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561" r:id="rId3"/>
    <p:sldId id="260" r:id="rId4"/>
    <p:sldId id="562" r:id="rId5"/>
    <p:sldId id="563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github.com/info-zas/zas-robotics-communications/blob/main/01_FoundationProjects/CFL12_IR_Communication/CFL12_IR_Remote_OLED/CFL12_IR_Remote_OLED.in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416" y="3688774"/>
            <a:ext cx="10351168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CFL12: Infra Red (IR) Communication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74A47B-99BF-954C-BDD8-807AFA66AA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CFL12: Infra Red (IR) Communication</a:t>
            </a:r>
            <a:endParaRPr lang="en-GB" sz="4000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A058AC05-157D-D0B6-D4A2-36B88D177A48}"/>
              </a:ext>
            </a:extLst>
          </p:cNvPr>
          <p:cNvSpPr txBox="1">
            <a:spLocks/>
          </p:cNvSpPr>
          <p:nvPr/>
        </p:nvSpPr>
        <p:spPr>
          <a:xfrm>
            <a:off x="2706171" y="84198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F5A6A5-3841-4FBA-B455-67883EB3171A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10" name="Picture 9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8E0F1F09-D256-CC2C-5A02-49D67214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127" y="3838159"/>
            <a:ext cx="1583078" cy="15616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1B5751-E80F-4303-6A75-37F6F83B18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931621" y="728200"/>
            <a:ext cx="4933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21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1822-2965-7DA2-5FBE-F2F54C13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CFL12: Infra Red (IR) Communication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CEB72-53BD-E4BE-7A3C-B11BC5BF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220ED-A95B-C992-C5B5-66F58FE7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7ECF24-F8CC-D293-957A-349AF4C0F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705" y="1762210"/>
            <a:ext cx="6167370" cy="50957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947D1C-9F3A-8EB5-E626-B43A98C10BF8}"/>
              </a:ext>
            </a:extLst>
          </p:cNvPr>
          <p:cNvSpPr txBox="1"/>
          <p:nvPr/>
        </p:nvSpPr>
        <p:spPr bwMode="auto">
          <a:xfrm>
            <a:off x="4956438" y="4833225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2972E0-7B9D-526F-0030-3943610559A7}"/>
              </a:ext>
            </a:extLst>
          </p:cNvPr>
          <p:cNvSpPr/>
          <p:nvPr/>
        </p:nvSpPr>
        <p:spPr>
          <a:xfrm>
            <a:off x="2911642" y="5378116"/>
            <a:ext cx="2129590" cy="974558"/>
          </a:xfrm>
          <a:custGeom>
            <a:avLst/>
            <a:gdLst>
              <a:gd name="csX0" fmla="*/ 2129590 w 2129590"/>
              <a:gd name="csY0" fmla="*/ 0 h 974558"/>
              <a:gd name="csX1" fmla="*/ 2069432 w 2129590"/>
              <a:gd name="csY1" fmla="*/ 120316 h 974558"/>
              <a:gd name="csX2" fmla="*/ 1684421 w 2129590"/>
              <a:gd name="csY2" fmla="*/ 613610 h 974558"/>
              <a:gd name="csX3" fmla="*/ 1600200 w 2129590"/>
              <a:gd name="csY3" fmla="*/ 673768 h 974558"/>
              <a:gd name="csX4" fmla="*/ 1467853 w 2129590"/>
              <a:gd name="csY4" fmla="*/ 745958 h 974558"/>
              <a:gd name="csX5" fmla="*/ 1275347 w 2129590"/>
              <a:gd name="csY5" fmla="*/ 830179 h 974558"/>
              <a:gd name="csX6" fmla="*/ 1106905 w 2129590"/>
              <a:gd name="csY6" fmla="*/ 890337 h 974558"/>
              <a:gd name="csX7" fmla="*/ 625642 w 2129590"/>
              <a:gd name="csY7" fmla="*/ 974558 h 974558"/>
              <a:gd name="csX8" fmla="*/ 0 w 2129590"/>
              <a:gd name="csY8" fmla="*/ 962526 h 9745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129590" h="974558">
                <a:moveTo>
                  <a:pt x="2129590" y="0"/>
                </a:moveTo>
                <a:cubicBezTo>
                  <a:pt x="2109537" y="40105"/>
                  <a:pt x="2094869" y="83391"/>
                  <a:pt x="2069432" y="120316"/>
                </a:cubicBezTo>
                <a:cubicBezTo>
                  <a:pt x="2050016" y="148501"/>
                  <a:pt x="1819207" y="499561"/>
                  <a:pt x="1684421" y="613610"/>
                </a:cubicBezTo>
                <a:cubicBezTo>
                  <a:pt x="1658084" y="635895"/>
                  <a:pt x="1629638" y="655778"/>
                  <a:pt x="1600200" y="673768"/>
                </a:cubicBezTo>
                <a:cubicBezTo>
                  <a:pt x="1557321" y="699972"/>
                  <a:pt x="1513130" y="724158"/>
                  <a:pt x="1467853" y="745958"/>
                </a:cubicBezTo>
                <a:cubicBezTo>
                  <a:pt x="1404746" y="776343"/>
                  <a:pt x="1340378" y="804166"/>
                  <a:pt x="1275347" y="830179"/>
                </a:cubicBezTo>
                <a:cubicBezTo>
                  <a:pt x="1219991" y="852322"/>
                  <a:pt x="1164541" y="875081"/>
                  <a:pt x="1106905" y="890337"/>
                </a:cubicBezTo>
                <a:cubicBezTo>
                  <a:pt x="967350" y="927278"/>
                  <a:pt x="768084" y="953192"/>
                  <a:pt x="625642" y="974558"/>
                </a:cubicBezTo>
                <a:lnTo>
                  <a:pt x="0" y="962526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C1D582-BA53-A627-2AC6-213D3E4EB0DD}"/>
              </a:ext>
            </a:extLst>
          </p:cNvPr>
          <p:cNvCxnSpPr>
            <a:endCxn id="10" idx="8"/>
          </p:cNvCxnSpPr>
          <p:nvPr/>
        </p:nvCxnSpPr>
        <p:spPr>
          <a:xfrm flipH="1">
            <a:off x="2911642" y="6244389"/>
            <a:ext cx="228600" cy="9625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7473E6-0DB9-478A-1026-D56A88DA39A1}"/>
              </a:ext>
            </a:extLst>
          </p:cNvPr>
          <p:cNvCxnSpPr>
            <a:stCxn id="10" idx="8"/>
          </p:cNvCxnSpPr>
          <p:nvPr/>
        </p:nvCxnSpPr>
        <p:spPr>
          <a:xfrm>
            <a:off x="2911642" y="6340642"/>
            <a:ext cx="228600" cy="15641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906443-5B0F-ED96-9DAB-007F16AFE4CE}"/>
              </a:ext>
            </a:extLst>
          </p:cNvPr>
          <p:cNvSpPr txBox="1"/>
          <p:nvPr/>
        </p:nvSpPr>
        <p:spPr>
          <a:xfrm>
            <a:off x="1558394" y="6049515"/>
            <a:ext cx="1241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IR Receiver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0C5915-9BF0-CB35-5A9F-A7A0155FB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88780"/>
            <a:ext cx="1188823" cy="20804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BD9401B-BB69-A16C-E0F9-4DA55B9B759A}"/>
              </a:ext>
            </a:extLst>
          </p:cNvPr>
          <p:cNvSpPr txBox="1"/>
          <p:nvPr/>
        </p:nvSpPr>
        <p:spPr>
          <a:xfrm>
            <a:off x="785080" y="2033303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IR Transmitter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0513B8-3F59-F662-2238-848579C368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00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45F10B-3A87-FBBB-EC62-8D1B74307863}"/>
              </a:ext>
            </a:extLst>
          </p:cNvPr>
          <p:cNvSpPr txBox="1">
            <a:spLocks/>
          </p:cNvSpPr>
          <p:nvPr/>
        </p:nvSpPr>
        <p:spPr bwMode="auto"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1">
              <a:lnSpc>
                <a:spcPct val="90000"/>
              </a:lnSpc>
              <a:defRPr/>
            </a:pPr>
            <a:r>
              <a:rPr lang="en-US" sz="40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CFL12: Infra Red (IR) Communication</a:t>
            </a:r>
            <a:endParaRPr lang="en-GB" sz="4000" b="1" dirty="0">
              <a:solidFill>
                <a:srgbClr val="FF3300"/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2231A43-5A91-F588-DDD7-DED9CA85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04E2236-3CA4-9CDB-C0D7-D24B8848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6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BC4E8-A132-950E-D532-8F00F8AFD4FF}"/>
              </a:ext>
            </a:extLst>
          </p:cNvPr>
          <p:cNvSpPr txBox="1"/>
          <p:nvPr/>
        </p:nvSpPr>
        <p:spPr>
          <a:xfrm>
            <a:off x="4791576" y="1550828"/>
            <a:ext cx="6093994" cy="397031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setup()</a:t>
            </a:r>
          </a:p>
          <a:p>
            <a:r>
              <a:rPr lang="en-GB" dirty="0"/>
              <a:t>    • Start Serial communication</a:t>
            </a:r>
          </a:p>
          <a:p>
            <a:r>
              <a:rPr lang="en-GB" dirty="0"/>
              <a:t>    • Initialize IR receiver on pin 34</a:t>
            </a:r>
          </a:p>
          <a:p>
            <a:r>
              <a:rPr lang="en-GB" dirty="0"/>
              <a:t>    • Initialize OLED display (128x64)</a:t>
            </a:r>
          </a:p>
          <a:p>
            <a:r>
              <a:rPr lang="en-GB" dirty="0"/>
              <a:t>    • Show “Waiting for IR input” on OLED</a:t>
            </a:r>
          </a:p>
          <a:p>
            <a:endParaRPr lang="en-GB" dirty="0"/>
          </a:p>
          <a:p>
            <a:r>
              <a:rPr lang="en-GB" dirty="0"/>
              <a:t>loop()</a:t>
            </a:r>
          </a:p>
          <a:p>
            <a:r>
              <a:rPr lang="en-GB" dirty="0"/>
              <a:t>    • Check if an IR signal is received</a:t>
            </a:r>
          </a:p>
          <a:p>
            <a:r>
              <a:rPr lang="en-GB" dirty="0"/>
              <a:t>    • Read the IR command byte</a:t>
            </a:r>
          </a:p>
          <a:p>
            <a:r>
              <a:rPr lang="en-GB" dirty="0"/>
              <a:t>    • Print IR code in HEX on Serial Monitor</a:t>
            </a:r>
          </a:p>
          <a:p>
            <a:r>
              <a:rPr lang="en-GB" dirty="0"/>
              <a:t>    • Match command to a button label (e.g., Power, Up, Down, Play)</a:t>
            </a:r>
          </a:p>
          <a:p>
            <a:r>
              <a:rPr lang="en-GB" dirty="0"/>
              <a:t>    • Display the button name and code on OLED</a:t>
            </a:r>
          </a:p>
          <a:p>
            <a:r>
              <a:rPr lang="en-GB" dirty="0"/>
              <a:t>    • Resume IR receiver to accept the next signal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DA6E6F-7C61-363B-2695-CBE9796E6D6A}"/>
              </a:ext>
            </a:extLst>
          </p:cNvPr>
          <p:cNvSpPr txBox="1"/>
          <p:nvPr/>
        </p:nvSpPr>
        <p:spPr>
          <a:xfrm>
            <a:off x="4791576" y="5521146"/>
            <a:ext cx="6093994" cy="120032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 • Clear OLED</a:t>
            </a:r>
          </a:p>
          <a:p>
            <a:r>
              <a:rPr lang="en-GB" dirty="0"/>
              <a:t>    • Display a label (e.g., “Button”)</a:t>
            </a:r>
          </a:p>
          <a:p>
            <a:r>
              <a:rPr lang="en-GB" dirty="0"/>
              <a:t>    • Display the decoded button name and HEX code in large text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6140CA64-6170-2080-DA5D-60E42C9ED1C2}"/>
              </a:ext>
            </a:extLst>
          </p:cNvPr>
          <p:cNvSpPr txBox="1"/>
          <p:nvPr/>
        </p:nvSpPr>
        <p:spPr bwMode="auto">
          <a:xfrm>
            <a:off x="838200" y="5018974"/>
            <a:ext cx="3074549" cy="138499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200" b="1" dirty="0"/>
              <a:t>Code for Lesson CFL12</a:t>
            </a:r>
          </a:p>
          <a:p>
            <a:pPr>
              <a:defRPr/>
            </a:pPr>
            <a:r>
              <a:rPr lang="en-GB" sz="1200" b="1" dirty="0"/>
              <a:t>(CFL12_IR_Remote_OLED.ino)</a:t>
            </a:r>
          </a:p>
          <a:p>
            <a:pPr>
              <a:defRPr/>
            </a:pPr>
            <a:r>
              <a:rPr lang="en-GB" sz="1200" b="1" dirty="0">
                <a:hlinkClick r:id="rId2"/>
              </a:rPr>
              <a:t>https://github.com/info-zas/zas-robotics-communications/blob/main/01_FoundationProjects/CFL12_IR_Communication/CFL12_IR_Remote_OLED/CFL12_IR_Remote_OLED.ino</a:t>
            </a:r>
            <a:endParaRPr lang="en-GB" sz="1200" b="1" dirty="0"/>
          </a:p>
          <a:p>
            <a:pPr>
              <a:defRPr/>
            </a:pPr>
            <a:endParaRPr lang="en-GB" sz="12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3415653-78F6-671F-12CA-09F175EE9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1" y="1524000"/>
            <a:ext cx="2470354" cy="34502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21FF84-B117-9C13-2A1C-15791DCC03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33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320</Words>
  <Application>Microsoft Office PowerPoint</Application>
  <PresentationFormat>Widescreen</PresentationFormat>
  <Paragraphs>63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Communication Kit (Kit 3)</vt:lpstr>
      <vt:lpstr>Communication Kit : Contents</vt:lpstr>
      <vt:lpstr>Kit 3 Communication Creative Board - Features</vt:lpstr>
      <vt:lpstr>CFL12: Infra Red (IR) Communication</vt:lpstr>
      <vt:lpstr>CFL12: Infra Red (IR) Communication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55</cp:revision>
  <dcterms:created xsi:type="dcterms:W3CDTF">2025-12-15T19:48:42Z</dcterms:created>
  <dcterms:modified xsi:type="dcterms:W3CDTF">2026-01-07T22:59:29Z</dcterms:modified>
</cp:coreProperties>
</file>