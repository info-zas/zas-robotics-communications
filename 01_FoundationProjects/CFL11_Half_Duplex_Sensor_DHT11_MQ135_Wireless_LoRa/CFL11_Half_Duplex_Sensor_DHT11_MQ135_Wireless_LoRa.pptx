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561" r:id="rId3"/>
    <p:sldId id="260" r:id="rId4"/>
    <p:sldId id="562" r:id="rId5"/>
    <p:sldId id="564" r:id="rId6"/>
    <p:sldId id="566" r:id="rId7"/>
    <p:sldId id="563" r:id="rId8"/>
    <p:sldId id="565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github.com/info-zas/zas-robotics-communications/blob/main/01_FoundationProjects/CFL11_Half_Duplex_Sensor_DHT11_MQ135_Wireless_LoRa/CFL11_LoRa_Half_Dulex_Button_Pot_Rx/CFL11_LoRa_Half_Dulex_Button_Pot_Rx.ino" TargetMode="External"/><Relationship Id="rId4" Type="http://schemas.openxmlformats.org/officeDocument/2006/relationships/hyperlink" Target="https://github.com/info-zas/zas-robotics-communications/blob/main/01_FoundationProjects/CFL11_Half_Duplex_Sensor_DHT11_MQ135_Wireless_LoRa/CFL11_LoRa_Half_Dulex_Button_Pot_Tx/CFL11_LoRa_Half_Dulex_Button_Pot_Tx.ino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communications/blob/main/01_FoundationProjects/CFL11_Half_Duplex_Sensor_DHT11_MQ135_Wireless_LoRa/CFL11_LoRa_Half_Dulex_DHT11_MQ135_Tx/CFL11_LoRa_Half_Dulex_DHT11_MQ135_Tx.ino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github.com/info-zas/zas-robotics-communications/blob/main/01_FoundationProjects/CFL11_Half_Duplex_Sensor_DHT11_MQ135_Wireless_LoRa/CFL11_LoRa_Half_Dulex_DHT11_MQ135_Rx/CFL11_LoRa_Half_Dulex_DHT11_MQ135_Rx.i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416" y="3688774"/>
            <a:ext cx="10351168" cy="1655762"/>
          </a:xfrm>
        </p:spPr>
        <p:txBody>
          <a:bodyPr>
            <a:normAutofit fontScale="77500" lnSpcReduction="2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CFL11: Half-Duplex Sensor (DHT11 and MQ135) Data Transmission Using LoRa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252D5-80DA-27A8-ACD3-CD28B75FA0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388" y="3200400"/>
            <a:ext cx="3435835" cy="3155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CFL11: Half-Duplex Data Transmission Using LoRa Using Button, Pot, Buzzer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862" y="5011792"/>
            <a:ext cx="1295951" cy="1278398"/>
          </a:xfrm>
          <a:prstGeom prst="rect">
            <a:avLst/>
          </a:prstGeom>
        </p:spPr>
      </p:pic>
      <p:pic>
        <p:nvPicPr>
          <p:cNvPr id="6" name="Picture 5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D321BE0E-850B-DA08-7A4D-3D7C44E6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89" y="3389035"/>
            <a:ext cx="3435835" cy="3155950"/>
          </a:xfrm>
          <a:prstGeom prst="rect">
            <a:avLst/>
          </a:prstGeom>
        </p:spPr>
      </p:pic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A058AC05-157D-D0B6-D4A2-36B88D177A48}"/>
              </a:ext>
            </a:extLst>
          </p:cNvPr>
          <p:cNvSpPr txBox="1">
            <a:spLocks/>
          </p:cNvSpPr>
          <p:nvPr/>
        </p:nvSpPr>
        <p:spPr>
          <a:xfrm>
            <a:off x="2706171" y="84198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F5A6A5-3841-4FBA-B455-67883EB3171A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0" name="Picture 9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8E0F1F09-D256-CC2C-5A02-49D672144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933" y="4870173"/>
            <a:ext cx="1583078" cy="15616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2AE516-4384-34EA-8F8B-B65F9DD73B1F}"/>
              </a:ext>
            </a:extLst>
          </p:cNvPr>
          <p:cNvSpPr txBox="1"/>
          <p:nvPr/>
        </p:nvSpPr>
        <p:spPr>
          <a:xfrm>
            <a:off x="2209799" y="2603281"/>
            <a:ext cx="2696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LoRa A: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4BF249-7BAF-B7D4-2E78-7323EF91D2C5}"/>
              </a:ext>
            </a:extLst>
          </p:cNvPr>
          <p:cNvSpPr txBox="1"/>
          <p:nvPr/>
        </p:nvSpPr>
        <p:spPr>
          <a:xfrm>
            <a:off x="8694387" y="2418615"/>
            <a:ext cx="2132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LoRa B: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7D4A98-ACC2-B9D1-3EE7-6FC9219D2261}"/>
              </a:ext>
            </a:extLst>
          </p:cNvPr>
          <p:cNvCxnSpPr/>
          <p:nvPr/>
        </p:nvCxnSpPr>
        <p:spPr>
          <a:xfrm>
            <a:off x="6758609" y="2186609"/>
            <a:ext cx="0" cy="43523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512B6B0-321F-F9A2-EAB2-356A92E80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90" y="3043106"/>
            <a:ext cx="1685014" cy="15573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A39225-5FF0-7E73-3F8A-01CD45120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412" y="3043106"/>
            <a:ext cx="1685014" cy="15573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897491-36F8-E764-F598-3FB98CEC4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77" y="4658003"/>
            <a:ext cx="1564393" cy="12783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5C57FE-EF6F-1B3F-3843-D68639E93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105" y="1976848"/>
            <a:ext cx="1805599" cy="125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2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F23F-3CF4-8C13-63A0-A2BBD18F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CFL11: Half-Duplex Data Transmission Using LoRa Using Button, Pot, Buzzer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4A405-BA4A-3E38-A3C2-9177C26E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18016-5231-3A98-4B18-BB424675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F88FA-7282-74D8-DE62-683CDCFBB576}"/>
              </a:ext>
            </a:extLst>
          </p:cNvPr>
          <p:cNvSpPr txBox="1"/>
          <p:nvPr/>
        </p:nvSpPr>
        <p:spPr>
          <a:xfrm>
            <a:off x="838200" y="1829931"/>
            <a:ext cx="4984955" cy="470898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setup()</a:t>
            </a:r>
          </a:p>
          <a:p>
            <a:r>
              <a:rPr lang="en-GB" sz="1200" dirty="0"/>
              <a:t>    • Initialize Serial monitor</a:t>
            </a:r>
          </a:p>
          <a:p>
            <a:r>
              <a:rPr lang="en-GB" sz="1200" dirty="0"/>
              <a:t>    • Initialize OLED display and show startup text</a:t>
            </a:r>
          </a:p>
          <a:p>
            <a:r>
              <a:rPr lang="en-GB" sz="1200" dirty="0"/>
              <a:t>    • Configure LED, buzzer, button, and potentiometer pins</a:t>
            </a:r>
          </a:p>
          <a:p>
            <a:r>
              <a:rPr lang="en-GB" sz="1200" dirty="0"/>
              <a:t>    • Initialize LoRa module at 433 MHz</a:t>
            </a:r>
          </a:p>
          <a:p>
            <a:r>
              <a:rPr lang="en-GB" sz="1200" dirty="0"/>
              <a:t>    • Display “LoRa ready” on OLED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    • Check button press (with debounce)</a:t>
            </a:r>
          </a:p>
          <a:p>
            <a:r>
              <a:rPr lang="en-GB" sz="1200" dirty="0"/>
              <a:t>    • If button pressed → read potentiometer and send LoRa message</a:t>
            </a:r>
          </a:p>
          <a:p>
            <a:r>
              <a:rPr lang="en-GB" sz="1200" dirty="0"/>
              <a:t>    • Check for incoming LoRa packets</a:t>
            </a:r>
          </a:p>
          <a:p>
            <a:r>
              <a:rPr lang="en-GB" sz="1200" dirty="0"/>
              <a:t>    • If message received → display it on OLED and activate LED + buzzer alert</a:t>
            </a:r>
          </a:p>
          <a:p>
            <a:endParaRPr lang="en-GB" sz="1200" dirty="0"/>
          </a:p>
          <a:p>
            <a:r>
              <a:rPr lang="en-GB" sz="1200" dirty="0" err="1"/>
              <a:t>sendMessage</a:t>
            </a:r>
            <a:r>
              <a:rPr lang="en-GB" sz="1200" dirty="0"/>
              <a:t>()</a:t>
            </a:r>
          </a:p>
          <a:p>
            <a:r>
              <a:rPr lang="en-GB" sz="1200" dirty="0"/>
              <a:t>    • Read potentiometer value</a:t>
            </a:r>
          </a:p>
          <a:p>
            <a:r>
              <a:rPr lang="en-GB" sz="1200" dirty="0"/>
              <a:t>    • Create message (“</a:t>
            </a:r>
            <a:r>
              <a:rPr lang="en-GB" sz="1200" dirty="0" err="1"/>
              <a:t>POT:value</a:t>
            </a:r>
            <a:r>
              <a:rPr lang="en-GB" sz="1200" dirty="0"/>
              <a:t>”)</a:t>
            </a:r>
          </a:p>
          <a:p>
            <a:r>
              <a:rPr lang="en-GB" sz="1200" dirty="0"/>
              <a:t>    • Transmit message using LoRa</a:t>
            </a:r>
          </a:p>
          <a:p>
            <a:r>
              <a:rPr lang="en-GB" sz="1200" dirty="0"/>
              <a:t>    • Show sent message on OLED</a:t>
            </a:r>
          </a:p>
          <a:p>
            <a:endParaRPr lang="en-GB" sz="1200" dirty="0"/>
          </a:p>
          <a:p>
            <a:r>
              <a:rPr lang="en-GB" sz="1200" dirty="0" err="1"/>
              <a:t>displayMessage</a:t>
            </a:r>
            <a:r>
              <a:rPr lang="en-GB" sz="1200" dirty="0"/>
              <a:t>(</a:t>
            </a:r>
            <a:r>
              <a:rPr lang="en-GB" sz="1200" dirty="0" err="1"/>
              <a:t>msg</a:t>
            </a:r>
            <a:r>
              <a:rPr lang="en-GB" sz="1200" dirty="0"/>
              <a:t>)</a:t>
            </a:r>
          </a:p>
          <a:p>
            <a:r>
              <a:rPr lang="en-GB" sz="1200" dirty="0"/>
              <a:t>    • Print received message to Serial</a:t>
            </a:r>
          </a:p>
          <a:p>
            <a:r>
              <a:rPr lang="en-GB" sz="1200" dirty="0"/>
              <a:t>    • Show received message on OLED</a:t>
            </a:r>
          </a:p>
          <a:p>
            <a:endParaRPr lang="en-GB" sz="1200" dirty="0"/>
          </a:p>
          <a:p>
            <a:r>
              <a:rPr lang="en-GB" sz="1200" dirty="0" err="1"/>
              <a:t>notifyUser</a:t>
            </a:r>
            <a:r>
              <a:rPr lang="en-GB" sz="1200" dirty="0"/>
              <a:t>()</a:t>
            </a:r>
          </a:p>
          <a:p>
            <a:r>
              <a:rPr lang="en-GB" sz="1200" dirty="0"/>
              <a:t>    • Blink LED and buzz buzzer briefly to signal new message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7CB211-A557-34BD-2B23-FB5B098D7F20}"/>
              </a:ext>
            </a:extLst>
          </p:cNvPr>
          <p:cNvSpPr txBox="1"/>
          <p:nvPr/>
        </p:nvSpPr>
        <p:spPr>
          <a:xfrm>
            <a:off x="6368845" y="1829931"/>
            <a:ext cx="4984955" cy="470898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setup()</a:t>
            </a:r>
          </a:p>
          <a:p>
            <a:r>
              <a:rPr lang="en-GB" sz="1200" dirty="0"/>
              <a:t>    • Initialize Serial communication</a:t>
            </a:r>
          </a:p>
          <a:p>
            <a:r>
              <a:rPr lang="en-GB" sz="1200" dirty="0"/>
              <a:t>    • Initialize OLED and show startup text</a:t>
            </a:r>
          </a:p>
          <a:p>
            <a:r>
              <a:rPr lang="en-GB" sz="1200" dirty="0"/>
              <a:t>    • Configure LED, buzzer, button (pull-up), and potentiometer pins</a:t>
            </a:r>
          </a:p>
          <a:p>
            <a:r>
              <a:rPr lang="en-GB" sz="1200" dirty="0"/>
              <a:t>    • Initialize LoRa module at 433 MHz using custom SPI pins</a:t>
            </a:r>
          </a:p>
          <a:p>
            <a:r>
              <a:rPr lang="en-GB" sz="1200" dirty="0"/>
              <a:t>    • Display “LoRa ready” on OLED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    • Read button state and apply debounce</a:t>
            </a:r>
          </a:p>
          <a:p>
            <a:r>
              <a:rPr lang="en-GB" sz="1200" dirty="0"/>
              <a:t>    • If button is pressed → read potentiometer value and send LoRa message</a:t>
            </a:r>
          </a:p>
          <a:p>
            <a:r>
              <a:rPr lang="en-GB" sz="1200" dirty="0"/>
              <a:t>    • Check for incoming LoRa packets</a:t>
            </a:r>
          </a:p>
          <a:p>
            <a:r>
              <a:rPr lang="en-GB" sz="1200" dirty="0"/>
              <a:t>    • If a message is received → show it on OLED and trigger LED + buzzer alert</a:t>
            </a:r>
          </a:p>
          <a:p>
            <a:endParaRPr lang="en-GB" sz="1200" dirty="0"/>
          </a:p>
          <a:p>
            <a:r>
              <a:rPr lang="en-GB" sz="1200" dirty="0" err="1"/>
              <a:t>sendMessage</a:t>
            </a:r>
            <a:r>
              <a:rPr lang="en-GB" sz="1200" dirty="0"/>
              <a:t>()</a:t>
            </a:r>
          </a:p>
          <a:p>
            <a:r>
              <a:rPr lang="en-GB" sz="1200" dirty="0"/>
              <a:t>    • Read potentiometer value</a:t>
            </a:r>
          </a:p>
          <a:p>
            <a:r>
              <a:rPr lang="en-GB" sz="1200" dirty="0"/>
              <a:t>    • Create message “</a:t>
            </a:r>
            <a:r>
              <a:rPr lang="en-GB" sz="1200" dirty="0" err="1"/>
              <a:t>POT:value</a:t>
            </a:r>
            <a:r>
              <a:rPr lang="en-GB" sz="1200" dirty="0"/>
              <a:t>”</a:t>
            </a:r>
          </a:p>
          <a:p>
            <a:r>
              <a:rPr lang="en-GB" sz="1200" dirty="0"/>
              <a:t>    • Send message via LoRa</a:t>
            </a:r>
          </a:p>
          <a:p>
            <a:r>
              <a:rPr lang="en-GB" sz="1200" dirty="0"/>
              <a:t>    • Display sent message on OLED</a:t>
            </a:r>
          </a:p>
          <a:p>
            <a:endParaRPr lang="en-GB" sz="1200" dirty="0"/>
          </a:p>
          <a:p>
            <a:r>
              <a:rPr lang="en-GB" sz="1200" dirty="0" err="1"/>
              <a:t>displayMessage</a:t>
            </a:r>
            <a:r>
              <a:rPr lang="en-GB" sz="1200" dirty="0"/>
              <a:t>(</a:t>
            </a:r>
            <a:r>
              <a:rPr lang="en-GB" sz="1200" dirty="0" err="1"/>
              <a:t>msg</a:t>
            </a:r>
            <a:r>
              <a:rPr lang="en-GB" sz="1200" dirty="0"/>
              <a:t>)</a:t>
            </a:r>
          </a:p>
          <a:p>
            <a:r>
              <a:rPr lang="en-GB" sz="1200" dirty="0"/>
              <a:t>    • Print message to Serial</a:t>
            </a:r>
          </a:p>
          <a:p>
            <a:r>
              <a:rPr lang="en-GB" sz="1200" dirty="0"/>
              <a:t>    • Show received message on OLED</a:t>
            </a:r>
          </a:p>
          <a:p>
            <a:endParaRPr lang="en-GB" sz="1200" dirty="0"/>
          </a:p>
          <a:p>
            <a:r>
              <a:rPr lang="en-GB" sz="1200" dirty="0" err="1"/>
              <a:t>notifyUser</a:t>
            </a:r>
            <a:r>
              <a:rPr lang="en-GB" sz="1200" dirty="0"/>
              <a:t>()</a:t>
            </a:r>
          </a:p>
          <a:p>
            <a:r>
              <a:rPr lang="en-GB" sz="1200" dirty="0"/>
              <a:t>    • Flash LED and buzzer briefly to indicate new message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CD5A5B-BA1F-27AB-0038-B06EC55FD4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2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0DFA-D898-CBD7-5BEE-EF3266AD0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CFL11: Half-Duplex Data Transmission Using LoRa Using Button, Pot, Buzzer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4D3CF-49B8-39A9-5809-5681425CE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2F40D-1220-6E51-3168-622666DE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6D2C5B-9536-31F3-7297-ED49D6896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23997"/>
            <a:ext cx="6569009" cy="22176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9F1E6A-CC6F-7DF8-753B-3AD49902E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175" y="3941609"/>
            <a:ext cx="4916128" cy="2765323"/>
          </a:xfrm>
          <a:prstGeom prst="rect">
            <a:avLst/>
          </a:prstGeom>
        </p:spPr>
      </p:pic>
      <p:sp>
        <p:nvSpPr>
          <p:cNvPr id="9" name="TextBox 13">
            <a:extLst>
              <a:ext uri="{FF2B5EF4-FFF2-40B4-BE49-F238E27FC236}">
                <a16:creationId xmlns:a16="http://schemas.microsoft.com/office/drawing/2014/main" id="{2392CD4E-994A-4B6A-4C39-950D48F9AE4A}"/>
              </a:ext>
            </a:extLst>
          </p:cNvPr>
          <p:cNvSpPr txBox="1"/>
          <p:nvPr/>
        </p:nvSpPr>
        <p:spPr bwMode="auto">
          <a:xfrm>
            <a:off x="592393" y="3974918"/>
            <a:ext cx="5680588" cy="24929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200" b="1" dirty="0"/>
              <a:t>Code for Lesson CFL10 (</a:t>
            </a:r>
            <a:r>
              <a:rPr lang="fr-FR" sz="1200" b="1" dirty="0"/>
              <a:t>CFL11_Half_Duplex_LoRa_DHT_Pollution_ESP32_A</a:t>
            </a:r>
            <a:r>
              <a:rPr lang="en-GB" sz="1200" b="1" dirty="0"/>
              <a:t>.ino)</a:t>
            </a:r>
          </a:p>
          <a:p>
            <a:pPr>
              <a:defRPr/>
            </a:pPr>
            <a:r>
              <a:rPr lang="en-US" sz="1200" b="1" dirty="0"/>
              <a:t>(</a:t>
            </a:r>
            <a:r>
              <a:rPr lang="fr-FR" sz="1200" b="1" dirty="0"/>
              <a:t>CFL11_Half_Duplex_LoRa_DHT_Pollution_ESP32_B</a:t>
            </a:r>
            <a:r>
              <a:rPr lang="en-US" sz="1200" b="1" dirty="0"/>
              <a:t>.</a:t>
            </a:r>
            <a:r>
              <a:rPr lang="en-US" sz="1200" b="1" dirty="0" err="1"/>
              <a:t>ino</a:t>
            </a:r>
            <a:r>
              <a:rPr lang="en-US" sz="1200" b="1" dirty="0"/>
              <a:t>)</a:t>
            </a:r>
          </a:p>
          <a:p>
            <a:pPr>
              <a:defRPr/>
            </a:pPr>
            <a:endParaRPr lang="en-US" sz="1200" b="1" dirty="0"/>
          </a:p>
          <a:p>
            <a:pPr>
              <a:defRPr/>
            </a:pPr>
            <a:r>
              <a:rPr lang="en-GB" sz="1200" b="1" dirty="0">
                <a:hlinkClick r:id="rId4"/>
              </a:rPr>
              <a:t>https://github.com/info-zas/zas-robotics-communications/blob/main/01_FoundationProjects/CFL11_Half_Duplex_Sensor_DHT11_MQ135_Wireless_LoRa/CFL11_LoRa_Half_Dulex_Button_Pot_Tx/CFL11_LoRa_Half_Dulex_Button_Pot_Tx.ino</a:t>
            </a:r>
            <a:endParaRPr lang="en-GB" sz="1200" b="1" dirty="0"/>
          </a:p>
          <a:p>
            <a:pPr>
              <a:defRPr/>
            </a:pPr>
            <a:endParaRPr lang="en-GB" sz="1200" b="1" dirty="0"/>
          </a:p>
          <a:p>
            <a:pPr>
              <a:defRPr/>
            </a:pPr>
            <a:r>
              <a:rPr lang="en-GB" sz="1200" b="1" dirty="0">
                <a:hlinkClick r:id="rId5"/>
              </a:rPr>
              <a:t>https://github.com/info-zas/zas-robotics-communications/blob/main/01_FoundationProjects/CFL11_Half_Duplex_Sensor_DHT11_MQ135_Wireless_LoRa/CFL11_LoRa_Half_Dulex_Button_Pot_Rx/CFL11_LoRa_Half_Dulex_Button_Pot_Rx.ino</a:t>
            </a:r>
            <a:endParaRPr lang="en-GB" sz="1200" b="1" dirty="0"/>
          </a:p>
          <a:p>
            <a:pPr>
              <a:defRPr/>
            </a:pPr>
            <a:endParaRPr lang="en-GB" sz="1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F2BE1A-62C9-F924-66F0-1B28F5E6FE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7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6E72-0B0B-CDBB-1F09-4A362B91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CFL11: Half-Duplex Sensor (DHT11 and MQ135) Data Transmission Using LoRa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43EE1-C55B-EDA5-1AEB-C7C6B2E9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69383-FB0E-2885-0551-FC2C42D86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94D287-FD8C-3A2B-0CDB-A5FC6263F567}"/>
              </a:ext>
            </a:extLst>
          </p:cNvPr>
          <p:cNvSpPr txBox="1"/>
          <p:nvPr/>
        </p:nvSpPr>
        <p:spPr>
          <a:xfrm>
            <a:off x="1053280" y="1690688"/>
            <a:ext cx="4916129" cy="489364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setup()</a:t>
            </a:r>
          </a:p>
          <a:p>
            <a:r>
              <a:rPr lang="en-GB" sz="1200" dirty="0"/>
              <a:t>    • Start Serial communication</a:t>
            </a:r>
          </a:p>
          <a:p>
            <a:r>
              <a:rPr lang="en-GB" sz="1200" dirty="0"/>
              <a:t>    • Configure button, LED, and buzzer pins</a:t>
            </a:r>
          </a:p>
          <a:p>
            <a:r>
              <a:rPr lang="en-GB" sz="1200" dirty="0"/>
              <a:t>    • Initialize OLED and display “Node A: TX”</a:t>
            </a:r>
          </a:p>
          <a:p>
            <a:r>
              <a:rPr lang="en-GB" sz="1200" dirty="0"/>
              <a:t>    • Initialize DHT11 and MQ135 sensors</a:t>
            </a:r>
          </a:p>
          <a:p>
            <a:r>
              <a:rPr lang="en-GB" sz="1200" dirty="0"/>
              <a:t>    • Initialize LoRa module with custom SPI pins</a:t>
            </a:r>
          </a:p>
          <a:p>
            <a:r>
              <a:rPr lang="en-GB" sz="1200" dirty="0"/>
              <a:t>    • Display “LoRa OK” on OLED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    • Check button press with debounce</a:t>
            </a:r>
          </a:p>
          <a:p>
            <a:r>
              <a:rPr lang="en-GB" sz="1200" dirty="0"/>
              <a:t>    • If button is pressed → read sensors and send LoRa message</a:t>
            </a:r>
          </a:p>
          <a:p>
            <a:r>
              <a:rPr lang="en-GB" sz="1200" dirty="0"/>
              <a:t>    • Continuously listen for LoRa replies from Node B</a:t>
            </a:r>
          </a:p>
          <a:p>
            <a:r>
              <a:rPr lang="en-GB" sz="1200" dirty="0"/>
              <a:t>    • If a reply is received → display it on OLED and alert user (LED + buzzer)</a:t>
            </a:r>
          </a:p>
          <a:p>
            <a:endParaRPr lang="en-GB" sz="1200" dirty="0"/>
          </a:p>
          <a:p>
            <a:r>
              <a:rPr lang="en-GB" sz="1200" dirty="0" err="1"/>
              <a:t>sendSensorData</a:t>
            </a:r>
            <a:r>
              <a:rPr lang="en-GB" sz="1200" dirty="0"/>
              <a:t>()</a:t>
            </a:r>
          </a:p>
          <a:p>
            <a:r>
              <a:rPr lang="en-GB" sz="1200" dirty="0"/>
              <a:t>    • Read temperature (DHT11), humidity, and air quality (MQ135)</a:t>
            </a:r>
          </a:p>
          <a:p>
            <a:r>
              <a:rPr lang="en-GB" sz="1200" dirty="0"/>
              <a:t>    • Format message: “</a:t>
            </a:r>
            <a:r>
              <a:rPr lang="en-GB" sz="1200" dirty="0" err="1"/>
              <a:t>Temp:X</a:t>
            </a:r>
            <a:r>
              <a:rPr lang="en-GB" sz="1200" dirty="0"/>
              <a:t> </a:t>
            </a:r>
            <a:r>
              <a:rPr lang="en-GB" sz="1200" dirty="0" err="1"/>
              <a:t>Hum:Y</a:t>
            </a:r>
            <a:r>
              <a:rPr lang="en-GB" sz="1200" dirty="0"/>
              <a:t> MQ135:Z”</a:t>
            </a:r>
          </a:p>
          <a:p>
            <a:r>
              <a:rPr lang="en-GB" sz="1200" dirty="0"/>
              <a:t>    • Send message via LoRa</a:t>
            </a:r>
          </a:p>
          <a:p>
            <a:r>
              <a:rPr lang="en-GB" sz="1200" dirty="0"/>
              <a:t>    • Show sent message on OLED</a:t>
            </a:r>
          </a:p>
          <a:p>
            <a:endParaRPr lang="en-GB" sz="1200" dirty="0"/>
          </a:p>
          <a:p>
            <a:r>
              <a:rPr lang="en-GB" sz="1200" dirty="0" err="1"/>
              <a:t>displayReceived</a:t>
            </a:r>
            <a:r>
              <a:rPr lang="en-GB" sz="1200" dirty="0"/>
              <a:t>(</a:t>
            </a:r>
            <a:r>
              <a:rPr lang="en-GB" sz="1200" dirty="0" err="1"/>
              <a:t>msg</a:t>
            </a:r>
            <a:r>
              <a:rPr lang="en-GB" sz="1200" dirty="0"/>
              <a:t>)</a:t>
            </a:r>
          </a:p>
          <a:p>
            <a:r>
              <a:rPr lang="en-GB" sz="1200" dirty="0"/>
              <a:t>    • Print received reply to Serial</a:t>
            </a:r>
          </a:p>
          <a:p>
            <a:r>
              <a:rPr lang="en-GB" sz="1200" dirty="0"/>
              <a:t>    • Display reply on OLED</a:t>
            </a:r>
          </a:p>
          <a:p>
            <a:endParaRPr lang="en-GB" sz="1200" dirty="0"/>
          </a:p>
          <a:p>
            <a:r>
              <a:rPr lang="en-GB" sz="1200" dirty="0" err="1"/>
              <a:t>alertUser</a:t>
            </a:r>
            <a:r>
              <a:rPr lang="en-GB" sz="1200" dirty="0"/>
              <a:t>()</a:t>
            </a:r>
          </a:p>
          <a:p>
            <a:r>
              <a:rPr lang="en-GB" sz="1200" dirty="0"/>
              <a:t>    • Flash LED and buzzer briefly to indicate message received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0EEAEF-87D9-4377-CA03-4D7C60C311C0}"/>
              </a:ext>
            </a:extLst>
          </p:cNvPr>
          <p:cNvSpPr txBox="1"/>
          <p:nvPr/>
        </p:nvSpPr>
        <p:spPr>
          <a:xfrm>
            <a:off x="6222591" y="1690688"/>
            <a:ext cx="5004619" cy="526297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setup()</a:t>
            </a:r>
          </a:p>
          <a:p>
            <a:r>
              <a:rPr lang="en-GB" sz="1200" dirty="0"/>
              <a:t>    • Start Serial communication</a:t>
            </a:r>
          </a:p>
          <a:p>
            <a:r>
              <a:rPr lang="en-GB" sz="1200" dirty="0"/>
              <a:t>    • Configure potentiometer, button, LED, and buzzer pins</a:t>
            </a:r>
          </a:p>
          <a:p>
            <a:r>
              <a:rPr lang="en-GB" sz="1200" dirty="0"/>
              <a:t>    • Initialize OLED and display “Node B: RX”</a:t>
            </a:r>
          </a:p>
          <a:p>
            <a:r>
              <a:rPr lang="en-GB" sz="1200" dirty="0"/>
              <a:t>    • Initialize LoRa module at 433 MHz with custom SPI pins</a:t>
            </a:r>
          </a:p>
          <a:p>
            <a:r>
              <a:rPr lang="en-GB" sz="1200" dirty="0"/>
              <a:t>    • Display “LoRa OK” on OLED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    • Continuously listen for LoRa packets from Node A</a:t>
            </a:r>
          </a:p>
          <a:p>
            <a:r>
              <a:rPr lang="en-GB" sz="1200" dirty="0"/>
              <a:t>    • When a packet arrives:</a:t>
            </a:r>
          </a:p>
          <a:p>
            <a:r>
              <a:rPr lang="en-GB" sz="1200" dirty="0"/>
              <a:t>          - Read message</a:t>
            </a:r>
          </a:p>
          <a:p>
            <a:r>
              <a:rPr lang="en-GB" sz="1200" dirty="0"/>
              <a:t>          - Display it on OLED</a:t>
            </a:r>
          </a:p>
          <a:p>
            <a:r>
              <a:rPr lang="en-GB" sz="1200" dirty="0"/>
              <a:t>          - Alert user using LED + buzzer</a:t>
            </a:r>
          </a:p>
          <a:p>
            <a:r>
              <a:rPr lang="en-GB" sz="1200" dirty="0"/>
              <a:t>    • Check button press with debounce</a:t>
            </a:r>
          </a:p>
          <a:p>
            <a:r>
              <a:rPr lang="en-GB" sz="1200" dirty="0"/>
              <a:t>    • If button is pressed → read potentiometer and send reply back to Node A</a:t>
            </a:r>
          </a:p>
          <a:p>
            <a:endParaRPr lang="en-GB" sz="1200" dirty="0"/>
          </a:p>
          <a:p>
            <a:r>
              <a:rPr lang="en-GB" sz="1200" dirty="0" err="1"/>
              <a:t>displayIncoming</a:t>
            </a:r>
            <a:r>
              <a:rPr lang="en-GB" sz="1200" dirty="0"/>
              <a:t>(</a:t>
            </a:r>
            <a:r>
              <a:rPr lang="en-GB" sz="1200" dirty="0" err="1"/>
              <a:t>msg</a:t>
            </a:r>
            <a:r>
              <a:rPr lang="en-GB" sz="1200" dirty="0"/>
              <a:t>)</a:t>
            </a:r>
          </a:p>
          <a:p>
            <a:r>
              <a:rPr lang="en-GB" sz="1200" dirty="0"/>
              <a:t>    • Print received message to Serial</a:t>
            </a:r>
          </a:p>
          <a:p>
            <a:r>
              <a:rPr lang="en-GB" sz="1200" dirty="0"/>
              <a:t>    • Show “Data from Node A” and the message on OLED</a:t>
            </a:r>
          </a:p>
          <a:p>
            <a:endParaRPr lang="en-GB" sz="1200" dirty="0"/>
          </a:p>
          <a:p>
            <a:r>
              <a:rPr lang="en-GB" sz="1200" dirty="0" err="1"/>
              <a:t>sendPotValue</a:t>
            </a:r>
            <a:r>
              <a:rPr lang="en-GB" sz="1200" dirty="0"/>
              <a:t>()</a:t>
            </a:r>
          </a:p>
          <a:p>
            <a:r>
              <a:rPr lang="en-GB" sz="1200" dirty="0"/>
              <a:t>    • Read analogue potentiometer value</a:t>
            </a:r>
          </a:p>
          <a:p>
            <a:r>
              <a:rPr lang="en-GB" sz="1200" dirty="0"/>
              <a:t>    • Format reply message “Pot:&lt;value&gt;”</a:t>
            </a:r>
          </a:p>
          <a:p>
            <a:r>
              <a:rPr lang="en-GB" sz="1200" dirty="0"/>
              <a:t>    • Transmit reply via LoRa</a:t>
            </a:r>
          </a:p>
          <a:p>
            <a:r>
              <a:rPr lang="en-GB" sz="1200" dirty="0"/>
              <a:t>    • Display sent message on OLED</a:t>
            </a:r>
          </a:p>
          <a:p>
            <a:endParaRPr lang="en-GB" sz="1200" dirty="0"/>
          </a:p>
          <a:p>
            <a:r>
              <a:rPr lang="en-GB" sz="1200" dirty="0" err="1"/>
              <a:t>alertUser</a:t>
            </a:r>
            <a:r>
              <a:rPr lang="en-GB" sz="1200" dirty="0"/>
              <a:t>()</a:t>
            </a:r>
          </a:p>
          <a:p>
            <a:r>
              <a:rPr lang="en-GB" sz="1200" dirty="0"/>
              <a:t>    • Flash LED and buzzer briefly when a new message arrives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3FC61-2A6A-3465-D055-7B6B7986D8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29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20FB-8719-3CA7-387E-2724C548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CFL11: Half-Duplex Sensor (DHT11 and MQ135) Data Transmission Using LoRa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2315F-F912-2C0F-72C2-E9B50291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94ACF-F9DD-701D-E033-E9C2EB7B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A39C6-8FDE-4B17-E4A1-78E7F0C2F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192" y="2806771"/>
            <a:ext cx="6340389" cy="21490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DD2759-FAE1-7BAF-4ED5-ED80C87CC0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3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45F10B-3A87-FBBB-EC62-8D1B74307863}"/>
              </a:ext>
            </a:extLst>
          </p:cNvPr>
          <p:cNvSpPr txBox="1">
            <a:spLocks/>
          </p:cNvSpPr>
          <p:nvPr/>
        </p:nvSpPr>
        <p:spPr bwMode="auto"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1">
              <a:lnSpc>
                <a:spcPct val="90000"/>
              </a:lnSpc>
              <a:defRPr/>
            </a:pPr>
            <a:r>
              <a:rPr lang="en-US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CFL11: Half-Duplex Sensor (DHT11 and MQ135) Data Transmission Using LoRa</a:t>
            </a:r>
            <a:endParaRPr lang="en-GB" sz="4000" b="1" dirty="0">
              <a:solidFill>
                <a:srgbClr val="FF3300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2231A43-5A91-F588-DDD7-DED9CA85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06/12/2025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04E2236-3CA4-9CDB-C0D7-D24B8848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9</a:t>
            </a:fld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77B3E1-7792-DA92-DF18-B5ECF37D3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428386"/>
              </p:ext>
            </p:extLst>
          </p:nvPr>
        </p:nvGraphicFramePr>
        <p:xfrm>
          <a:off x="990600" y="1754875"/>
          <a:ext cx="28425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296">
                  <a:extLst>
                    <a:ext uri="{9D8B030D-6E8A-4147-A177-3AD203B41FA5}">
                      <a16:colId xmlns:a16="http://schemas.microsoft.com/office/drawing/2014/main" val="1233141021"/>
                    </a:ext>
                  </a:extLst>
                </a:gridCol>
                <a:gridCol w="1421296">
                  <a:extLst>
                    <a:ext uri="{9D8B030D-6E8A-4147-A177-3AD203B41FA5}">
                      <a16:colId xmlns:a16="http://schemas.microsoft.com/office/drawing/2014/main" val="3696644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DHT11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ESP32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58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57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52587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3A5185-5ED7-B37D-FDEF-AECB05EE2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121229"/>
              </p:ext>
            </p:extLst>
          </p:nvPr>
        </p:nvGraphicFramePr>
        <p:xfrm>
          <a:off x="990600" y="3425785"/>
          <a:ext cx="28425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296">
                  <a:extLst>
                    <a:ext uri="{9D8B030D-6E8A-4147-A177-3AD203B41FA5}">
                      <a16:colId xmlns:a16="http://schemas.microsoft.com/office/drawing/2014/main" val="1233141021"/>
                    </a:ext>
                  </a:extLst>
                </a:gridCol>
                <a:gridCol w="1421296">
                  <a:extLst>
                    <a:ext uri="{9D8B030D-6E8A-4147-A177-3AD203B41FA5}">
                      <a16:colId xmlns:a16="http://schemas.microsoft.com/office/drawing/2014/main" val="3696644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MQ-135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ESP32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58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57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52587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FAA905F-8C06-692D-6309-53F58E98D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165" y="1602648"/>
            <a:ext cx="6937026" cy="3646274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04F1D016-2C71-4AE1-A24A-A8C545760852}"/>
              </a:ext>
            </a:extLst>
          </p:cNvPr>
          <p:cNvSpPr txBox="1"/>
          <p:nvPr/>
        </p:nvSpPr>
        <p:spPr bwMode="auto">
          <a:xfrm>
            <a:off x="161864" y="4909145"/>
            <a:ext cx="5003065" cy="230832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200" b="1" dirty="0"/>
              <a:t>Code for Lesson CFL11 (</a:t>
            </a:r>
            <a:r>
              <a:rPr lang="fr-FR" sz="1200" b="1" dirty="0"/>
              <a:t>CFL11_LoRa_Half_Dulex_DHT11_MQ135_Rx</a:t>
            </a:r>
            <a:r>
              <a:rPr lang="en-GB" sz="1200" b="1" dirty="0"/>
              <a:t>.ino)</a:t>
            </a:r>
          </a:p>
          <a:p>
            <a:pPr>
              <a:defRPr/>
            </a:pPr>
            <a:r>
              <a:rPr lang="en-US" sz="1200" b="1" dirty="0"/>
              <a:t>(CFL11_LoRa_Half_Dulex_DHT11_MQ135_Tx.ino)</a:t>
            </a:r>
          </a:p>
          <a:p>
            <a:pPr>
              <a:defRPr/>
            </a:pPr>
            <a:r>
              <a:rPr lang="en-GB" sz="1200" b="1" dirty="0">
                <a:hlinkClick r:id="rId3"/>
              </a:rPr>
              <a:t>https://github.com/info-zas/zas-robotics-communications/blob/main/01_FoundationProjects/CFL11_Half_Duplex_Sensor_DHT11_MQ135_Wireless_LoRa/CFL11_LoRa_Half_Dulex_DHT11_MQ135_Tx/CFL11_LoRa_Half_Dulex_DHT11_MQ135_Tx.ino</a:t>
            </a:r>
            <a:endParaRPr lang="en-GB" sz="1200" b="1" dirty="0"/>
          </a:p>
          <a:p>
            <a:pPr>
              <a:defRPr/>
            </a:pPr>
            <a:endParaRPr lang="en-GB" sz="1200" b="1" dirty="0"/>
          </a:p>
          <a:p>
            <a:pPr>
              <a:defRPr/>
            </a:pPr>
            <a:r>
              <a:rPr lang="en-GB" sz="1200" b="1" dirty="0">
                <a:hlinkClick r:id="rId4"/>
              </a:rPr>
              <a:t>https://github.com/info-zas/zas-robotics-communications/blob/main/01_FoundationProjects/CFL11_Half_Duplex_Sensor_DHT11_MQ135_Wireless_LoRa/CFL11_LoRa_Half_Dulex_DHT11_MQ135_Rx/CFL11_LoRa_Half_Dulex_DHT11_MQ135_Rx.ino</a:t>
            </a:r>
            <a:endParaRPr lang="en-GB" sz="1200" b="1" dirty="0"/>
          </a:p>
          <a:p>
            <a:pPr>
              <a:defRPr/>
            </a:pPr>
            <a:endParaRPr lang="en-GB" sz="12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42E46E-4C7D-CCE9-5AEC-F1ADC65060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3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1225</Words>
  <Application>Microsoft Office PowerPoint</Application>
  <PresentationFormat>Widescreen</PresentationFormat>
  <Paragraphs>184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Communication Kit (Kit 3)</vt:lpstr>
      <vt:lpstr>Communication Kit : Contents</vt:lpstr>
      <vt:lpstr>Kit 3 Communication Creative Board - Features</vt:lpstr>
      <vt:lpstr>CFL11: Half-Duplex Data Transmission Using LoRa Using Button, Pot, Buzzer</vt:lpstr>
      <vt:lpstr>CFL11: Half-Duplex Data Transmission Using LoRa Using Button, Pot, Buzzer</vt:lpstr>
      <vt:lpstr>CFL11: Half-Duplex Data Transmission Using LoRa Using Button, Pot, Buzzer</vt:lpstr>
      <vt:lpstr>CFL11: Half-Duplex Sensor (DHT11 and MQ135) Data Transmission Using LoRa</vt:lpstr>
      <vt:lpstr>CFL11: Half-Duplex Sensor (DHT11 and MQ135) Data Transmission Using LoRa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55</cp:revision>
  <dcterms:created xsi:type="dcterms:W3CDTF">2025-12-15T19:48:42Z</dcterms:created>
  <dcterms:modified xsi:type="dcterms:W3CDTF">2026-01-07T22:56:41Z</dcterms:modified>
</cp:coreProperties>
</file>